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Group names and their PRNs are taken from the supplied v3a presentation. The logo mark is the EventNest website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statement uses the revised v3a content, with the existing visual breakdown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Objectives reflect all five goals from the supplied v3a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Stack and versions are from the supplied report. WordPress standard tables store content and profile metadata; EventNest custom tables support registrations, teams, approvals, revisions, memberships and audit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eight feature statements are taken from v3a and refined for concise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Workflow text follows the seven steps supplied by the user. The note clarifies the conditional revision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four flows cover student, club member, club head and faculty journeys. Students can also submit stories and proposals; club membership is recorded as approved status on a student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 role paths use the same row-based style as the Participation slide. Cultural and Technical club-linked proposals may require both the assigned Faculty Head and Club Head approvals before Admin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interface screenshots come from the original team presentation. The demo path is based on the supplied implementation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47708-C927-D93F-4F77-5BD87CBC5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0C356-1FCD-E91C-39A6-96FB13A77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86852-D627-D243-29E8-20CB873AD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interface screenshots come from the original team presentation. The demo path is based on the supplied implementation description.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0824E-AD7F-0297-07F5-60B7B35A224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1743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50BE0-B3F7-6994-D6A7-25E495C77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A1A10D-5BB8-438D-2180-E6AA6CEE9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8E60C-5A85-DECB-0ECE-52878A78A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interface screenshots come from the original team presentation. The demo path is based on the supplied implementation description.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89FB1-A1FE-8951-0BCB-FED9FD375E2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4489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94751-0113-D6F1-5503-FB331744C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6BB833-C0DC-AD38-AD45-ECCD74CA5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75C37-2B54-A5AC-FB63-EC652CF15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interface screenshots come from the original team presentation. The demo path is based on the supplied implementation description.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3C0B9-CFC4-F5FF-3C6D-7DDD84E069D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15039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Implementation steps and demonstration sequence are based on the supplied report. The example shows a proposal revision and approval; role assignments determine which reviewer sees each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Value statements condense the report’s student, organizer and institution benefits without adding unsupported impact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Future-scope items are from the supplied project summary and are not represented as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38AE028-18D7-4C33-A07D-0195433FC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84FF392-1BE3-4805-B8E6-AEE5F8AF9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94588FB0-54CC-4866-ADA2-2B52912FD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48EED6A-53A3-4888-AF22-FC6F3DA46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FAE853C-33CB-4E67-94EF-02F86B249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4680866-D46E-4FDE-8135-9A72D99FF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F7B4060-9964-4178-90BC-6E53C371A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AB411D0-2234-490A-8FB5-ADDC84321B5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F68C643-600D-4509-A20F-D0CE01179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815BF67-7980-4CD1-9890-98DA22E94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9EB"/>
            </a:gs>
            <a:gs pos="62000">
              <a:srgbClr val="FFE8BD"/>
            </a:gs>
            <a:gs pos="100000">
              <a:srgbClr val="FFD3C6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EDA43E8-78BF-4A13-BD4E-A848FFF63E4B}"/>
              </a:ext>
            </a:extLst>
          </p:cNvPr>
          <p:cNvSpPr>
            <a:spLocks noGrp="1"/>
          </p:cNvSpPr>
          <p:nvPr/>
        </p:nvSpPr>
        <p:spPr>
          <a:xfrm>
            <a:off x="666750" y="638175"/>
            <a:ext cx="714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Project Title &amp; Group Members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589975-CF50-41F8-B19B-04C1962E6FE2}"/>
              </a:ext>
            </a:extLst>
          </p:cNvPr>
          <p:cNvSpPr>
            <a:spLocks noGrp="1"/>
          </p:cNvSpPr>
          <p:nvPr/>
        </p:nvSpPr>
        <p:spPr>
          <a:xfrm>
            <a:off x="628650" y="1257300"/>
            <a:ext cx="7429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60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60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60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EventNest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7FEFD8-3B3E-4DB1-BAED-2BA568082F73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6572250" cy="1571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36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36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One campus.</a:t>
            </a:r>
          </a:p>
          <a:p>
            <a:pPr algn="l">
              <a:defRPr sz="36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36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Every opportunity.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6FB825-D637-427C-81C4-FB4FE241322F}"/>
              </a:ext>
            </a:extLst>
          </p:cNvPr>
          <p:cNvSpPr>
            <a:spLocks noGrp="1"/>
          </p:cNvSpPr>
          <p:nvPr/>
        </p:nvSpPr>
        <p:spPr>
          <a:xfrm>
            <a:off x="704850" y="4181475"/>
            <a:ext cx="6334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6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Events · competitions · clubs · student stories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C9A9EA7-4ECF-4D72-8357-6AEEB3711B4F}"/>
              </a:ext>
            </a:extLst>
          </p:cNvPr>
          <p:cNvSpPr>
            <a:spLocks noGrp="1"/>
          </p:cNvSpPr>
          <p:nvPr/>
        </p:nvSpPr>
        <p:spPr>
          <a:xfrm>
            <a:off x="7810501" y="0"/>
            <a:ext cx="4381500" cy="6858000"/>
          </a:xfrm>
          <a:prstGeom prst="roundRect">
            <a:avLst>
              <a:gd name="adj" fmla="val 2286"/>
            </a:avLst>
          </a:prstGeom>
          <a:solidFill>
            <a:srgbClr val="FFFDF7"/>
          </a:solidFill>
          <a:ln w="14288">
            <a:solidFill>
              <a:srgbClr val="D9C7AB"/>
            </a:solidFill>
          </a:ln>
        </p:spPr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F417EFB-38B7-495D-BF37-0C74955B06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563101" y="2515174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C06B37B-E0F9-4AEB-A1BF-2C2EBCB39810}"/>
              </a:ext>
            </a:extLst>
          </p:cNvPr>
          <p:cNvSpPr>
            <a:spLocks noGrp="1"/>
          </p:cNvSpPr>
          <p:nvPr/>
        </p:nvSpPr>
        <p:spPr>
          <a:xfrm>
            <a:off x="8572500" y="238125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7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endParaRPr sz="1725" b="1" dirty="0">
              <a:solidFill>
                <a:srgbClr val="2D1709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E44B3A-AA05-4CE2-AD58-D6AB3D0FFDC5}"/>
              </a:ext>
            </a:extLst>
          </p:cNvPr>
          <p:cNvSpPr>
            <a:spLocks noGrp="1"/>
          </p:cNvSpPr>
          <p:nvPr/>
        </p:nvSpPr>
        <p:spPr>
          <a:xfrm>
            <a:off x="8420100" y="2952750"/>
            <a:ext cx="1285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23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endParaRPr sz="2325" b="1" dirty="0">
              <a:solidFill>
                <a:srgbClr val="2D1709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024735-2BB8-4DFB-97CF-64B60F1F7C5E}"/>
              </a:ext>
            </a:extLst>
          </p:cNvPr>
          <p:cNvSpPr>
            <a:spLocks noGrp="1"/>
          </p:cNvSpPr>
          <p:nvPr/>
        </p:nvSpPr>
        <p:spPr>
          <a:xfrm>
            <a:off x="9906000" y="2952750"/>
            <a:ext cx="1285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23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endParaRPr sz="2325" b="1" dirty="0">
              <a:solidFill>
                <a:srgbClr val="F2550A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7BB993-3A48-4116-ABA7-2B2BACBEEEB6}"/>
              </a:ext>
            </a:extLst>
          </p:cNvPr>
          <p:cNvSpPr>
            <a:spLocks noGrp="1"/>
          </p:cNvSpPr>
          <p:nvPr/>
        </p:nvSpPr>
        <p:spPr>
          <a:xfrm>
            <a:off x="8420100" y="3667125"/>
            <a:ext cx="1285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23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endParaRPr sz="2325" b="1" dirty="0">
              <a:solidFill>
                <a:srgbClr val="2D1709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1FC3D7-DDD2-4C2E-8293-26E494EBB71B}"/>
              </a:ext>
            </a:extLst>
          </p:cNvPr>
          <p:cNvSpPr>
            <a:spLocks noGrp="1"/>
          </p:cNvSpPr>
          <p:nvPr/>
        </p:nvSpPr>
        <p:spPr>
          <a:xfrm>
            <a:off x="9906000" y="3667125"/>
            <a:ext cx="1285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21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endParaRPr sz="2100" b="1" dirty="0">
              <a:solidFill>
                <a:srgbClr val="F2550A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3D8005-74F4-4BED-955C-C58C34B7F36C}"/>
              </a:ext>
            </a:extLst>
          </p:cNvPr>
          <p:cNvSpPr>
            <a:spLocks noGrp="1"/>
          </p:cNvSpPr>
          <p:nvPr/>
        </p:nvSpPr>
        <p:spPr>
          <a:xfrm>
            <a:off x="390525" y="5019675"/>
            <a:ext cx="6953250" cy="1028700"/>
          </a:xfrm>
          <a:prstGeom prst="roundRect">
            <a:avLst>
              <a:gd name="adj" fmla="val 7407"/>
            </a:avLst>
          </a:prstGeom>
          <a:solidFill>
            <a:srgbClr val="FFFDF7"/>
          </a:solidFill>
          <a:ln w="11430">
            <a:solidFill>
              <a:srgbClr val="D9C7AB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9880DF-1AE6-4D31-96C8-E2D0AD4EA9E4}"/>
              </a:ext>
            </a:extLst>
          </p:cNvPr>
          <p:cNvSpPr>
            <a:spLocks noGrp="1"/>
          </p:cNvSpPr>
          <p:nvPr/>
        </p:nvSpPr>
        <p:spPr>
          <a:xfrm>
            <a:off x="866775" y="5133975"/>
            <a:ext cx="657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Aashriya Chauhan  ·  Daksh Arora  ·  Nishit Gupta  ·  Vedant Choudhary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D54075-1FFE-4738-8339-1A6BB87F9A4A}"/>
              </a:ext>
            </a:extLst>
          </p:cNvPr>
          <p:cNvSpPr>
            <a:spLocks noGrp="1"/>
          </p:cNvSpPr>
          <p:nvPr/>
        </p:nvSpPr>
        <p:spPr>
          <a:xfrm>
            <a:off x="866775" y="5410200"/>
            <a:ext cx="657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PRN  23030124113  ·  23030124097  ·  23030124086  ·  23030124114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E78BCF-5CA3-4113-B514-228358E7F8F2}"/>
              </a:ext>
            </a:extLst>
          </p:cNvPr>
          <p:cNvSpPr>
            <a:spLocks noGrp="1"/>
          </p:cNvSpPr>
          <p:nvPr/>
        </p:nvSpPr>
        <p:spPr>
          <a:xfrm>
            <a:off x="866775" y="5695950"/>
            <a:ext cx="647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Web UI &amp; Content Management  ·  Semester VII  ·  Division 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911319-85E3-44D2-9253-0B5339A7D0CA}"/>
              </a:ext>
            </a:extLst>
          </p:cNvPr>
          <p:cNvSpPr>
            <a:spLocks noGrp="1"/>
          </p:cNvSpPr>
          <p:nvPr/>
        </p:nvSpPr>
        <p:spPr>
          <a:xfrm>
            <a:off x="10382250" y="647700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01 / 12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36DA553-D01C-8F44-7D1A-51CD15051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500" y="3489375"/>
            <a:ext cx="1730250" cy="6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9EB"/>
            </a:gs>
            <a:gs pos="62000">
              <a:srgbClr val="FFE8BD"/>
            </a:gs>
            <a:gs pos="100000">
              <a:srgbClr val="FFD3C6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F33B96A-8DEB-4255-9963-B73DD238831E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Problem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A4C7AF-765F-444F-8772-F6E9B8FEF110}"/>
              </a:ext>
            </a:extLst>
          </p:cNvPr>
          <p:cNvSpPr>
            <a:spLocks noGrp="1"/>
          </p:cNvSpPr>
          <p:nvPr/>
        </p:nvSpPr>
        <p:spPr>
          <a:xfrm>
            <a:off x="628650" y="866775"/>
            <a:ext cx="10668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Campus event information is often spread across multiple channels, making it difficult for students and staff to discover activities, register, and track proposals. Organizers also need a consistent way to manage clubs, competitions, event registrations, and approvals. EventNest provides one role-based portal for these activities.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ED12F9-57E6-4298-AFEC-45E78C58809A}"/>
              </a:ext>
            </a:extLst>
          </p:cNvPr>
          <p:cNvSpPr>
            <a:spLocks noGrp="1"/>
          </p:cNvSpPr>
          <p:nvPr/>
        </p:nvSpPr>
        <p:spPr>
          <a:xfrm>
            <a:off x="10382250" y="647700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02 / 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CAE82D-35DD-4D9C-B262-953F5E9984ED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8669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84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84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84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D35A46-D739-4047-B306-55345AAE2628}"/>
              </a:ext>
            </a:extLst>
          </p:cNvPr>
          <p:cNvSpPr>
            <a:spLocks noGrp="1"/>
          </p:cNvSpPr>
          <p:nvPr/>
        </p:nvSpPr>
        <p:spPr>
          <a:xfrm>
            <a:off x="781050" y="2790825"/>
            <a:ext cx="2286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4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places students</a:t>
            </a:r>
          </a:p>
          <a:p>
            <a:pPr algn="l">
              <a:defRPr sz="14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look for updates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EE5BD7-5818-4E07-9BEA-8065D7CE4ACB}"/>
              </a:ext>
            </a:extLst>
          </p:cNvPr>
          <p:cNvSpPr>
            <a:spLocks noGrp="1"/>
          </p:cNvSpPr>
          <p:nvPr/>
        </p:nvSpPr>
        <p:spPr>
          <a:xfrm>
            <a:off x="3381375" y="1838325"/>
            <a:ext cx="1428750" cy="514350"/>
          </a:xfrm>
          <a:prstGeom prst="roundRect">
            <a:avLst>
              <a:gd name="adj" fmla="val 14815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Notice boards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3E1658-3D38-4390-833B-252C59038096}"/>
              </a:ext>
            </a:extLst>
          </p:cNvPr>
          <p:cNvSpPr>
            <a:spLocks noGrp="1"/>
          </p:cNvSpPr>
          <p:nvPr/>
        </p:nvSpPr>
        <p:spPr>
          <a:xfrm>
            <a:off x="4953000" y="1838325"/>
            <a:ext cx="1066800" cy="514350"/>
          </a:xfrm>
          <a:prstGeom prst="roundRect">
            <a:avLst>
              <a:gd name="adj" fmla="val 14815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Posters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BF1693-5F79-433E-9F77-306F05BC2715}"/>
              </a:ext>
            </a:extLst>
          </p:cNvPr>
          <p:cNvSpPr>
            <a:spLocks noGrp="1"/>
          </p:cNvSpPr>
          <p:nvPr/>
        </p:nvSpPr>
        <p:spPr>
          <a:xfrm>
            <a:off x="6153150" y="1838325"/>
            <a:ext cx="1657350" cy="514350"/>
          </a:xfrm>
          <a:prstGeom prst="roundRect">
            <a:avLst>
              <a:gd name="adj" fmla="val 14815"/>
            </a:avLst>
          </a:prstGeom>
          <a:solidFill>
            <a:srgbClr val="FFE8BD"/>
          </a:solidFill>
          <a:ln w="13335">
            <a:solidFill>
              <a:srgbClr val="F2550A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2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2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WhatsApp groups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EA4978-B350-4ABD-ACDB-4F2FBB8501FD}"/>
              </a:ext>
            </a:extLst>
          </p:cNvPr>
          <p:cNvSpPr>
            <a:spLocks noGrp="1"/>
          </p:cNvSpPr>
          <p:nvPr/>
        </p:nvSpPr>
        <p:spPr>
          <a:xfrm>
            <a:off x="7924800" y="1838325"/>
            <a:ext cx="904875" cy="514350"/>
          </a:xfrm>
          <a:prstGeom prst="roundRect">
            <a:avLst>
              <a:gd name="adj" fmla="val 14815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Email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A29CD0-3D3A-4BAF-A35A-63ED0ADD0044}"/>
              </a:ext>
            </a:extLst>
          </p:cNvPr>
          <p:cNvSpPr>
            <a:spLocks noGrp="1"/>
          </p:cNvSpPr>
          <p:nvPr/>
        </p:nvSpPr>
        <p:spPr>
          <a:xfrm>
            <a:off x="8972550" y="1838325"/>
            <a:ext cx="1381125" cy="514350"/>
          </a:xfrm>
          <a:prstGeom prst="roundRect">
            <a:avLst>
              <a:gd name="adj" fmla="val 14815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Paper forms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D0033A9-DE9D-491D-937B-A6361604E6B5}"/>
              </a:ext>
            </a:extLst>
          </p:cNvPr>
          <p:cNvSpPr>
            <a:spLocks noGrp="1"/>
          </p:cNvSpPr>
          <p:nvPr/>
        </p:nvSpPr>
        <p:spPr>
          <a:xfrm>
            <a:off x="3333750" y="2667000"/>
            <a:ext cx="7848600" cy="2800350"/>
          </a:xfrm>
          <a:prstGeom prst="roundRect">
            <a:avLst>
              <a:gd name="adj" fmla="val 2721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76CB4E-817A-4DB0-A210-7300B37E3F3E}"/>
              </a:ext>
            </a:extLst>
          </p:cNvPr>
          <p:cNvSpPr>
            <a:spLocks noGrp="1"/>
          </p:cNvSpPr>
          <p:nvPr/>
        </p:nvSpPr>
        <p:spPr>
          <a:xfrm>
            <a:off x="3581400" y="2876550"/>
            <a:ext cx="5143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CCC62-359E-49F2-9742-65BB8B0F06B9}"/>
              </a:ext>
            </a:extLst>
          </p:cNvPr>
          <p:cNvSpPr>
            <a:spLocks noGrp="1"/>
          </p:cNvSpPr>
          <p:nvPr/>
        </p:nvSpPr>
        <p:spPr>
          <a:xfrm>
            <a:off x="4171950" y="2876550"/>
            <a:ext cx="21431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FRAGMENTED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7DE8E1-6F61-41B3-B49D-6690892142D7}"/>
              </a:ext>
            </a:extLst>
          </p:cNvPr>
          <p:cNvSpPr>
            <a:spLocks noGrp="1"/>
          </p:cNvSpPr>
          <p:nvPr/>
        </p:nvSpPr>
        <p:spPr>
          <a:xfrm>
            <a:off x="6191250" y="2867025"/>
            <a:ext cx="46101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Students miss event details and deadlines across bulletin boards, chats, email and social channels.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FD2BA923-7D62-4799-99A0-040CF2EB1DAF}"/>
              </a:ext>
            </a:extLst>
          </p:cNvPr>
          <p:cNvSpPr>
            <a:spLocks noGrp="1"/>
          </p:cNvSpPr>
          <p:nvPr/>
        </p:nvSpPr>
        <p:spPr>
          <a:xfrm>
            <a:off x="3581400" y="3533775"/>
            <a:ext cx="7353300" cy="0"/>
          </a:xfrm>
          <a:prstGeom prst="line">
            <a:avLst/>
          </a:prstGeom>
          <a:noFill/>
          <a:ln w="10478">
            <a:solidFill>
              <a:srgbClr val="D9C7A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D11457-7C37-4776-84D4-8D7BD894C79B}"/>
              </a:ext>
            </a:extLst>
          </p:cNvPr>
          <p:cNvSpPr>
            <a:spLocks noGrp="1"/>
          </p:cNvSpPr>
          <p:nvPr/>
        </p:nvSpPr>
        <p:spPr>
          <a:xfrm>
            <a:off x="3581400" y="3714750"/>
            <a:ext cx="5143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71232-5BC8-4276-8F80-091960513F7C}"/>
              </a:ext>
            </a:extLst>
          </p:cNvPr>
          <p:cNvSpPr>
            <a:spLocks noGrp="1"/>
          </p:cNvSpPr>
          <p:nvPr/>
        </p:nvSpPr>
        <p:spPr>
          <a:xfrm>
            <a:off x="4171950" y="3714750"/>
            <a:ext cx="21431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MANUAL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114F70-9C3E-4F72-96A3-F66DADFDE28B}"/>
              </a:ext>
            </a:extLst>
          </p:cNvPr>
          <p:cNvSpPr>
            <a:spLocks noGrp="1"/>
          </p:cNvSpPr>
          <p:nvPr/>
        </p:nvSpPr>
        <p:spPr>
          <a:xfrm>
            <a:off x="6191250" y="3705225"/>
            <a:ext cx="46101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Organizers coordinate publishing, registration lists and approvals by hand.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21C7F12F-DA70-4AE5-B28D-0E782A1FCA51}"/>
              </a:ext>
            </a:extLst>
          </p:cNvPr>
          <p:cNvSpPr>
            <a:spLocks noGrp="1"/>
          </p:cNvSpPr>
          <p:nvPr/>
        </p:nvSpPr>
        <p:spPr>
          <a:xfrm>
            <a:off x="3581400" y="4371975"/>
            <a:ext cx="7353300" cy="0"/>
          </a:xfrm>
          <a:prstGeom prst="line">
            <a:avLst/>
          </a:prstGeom>
          <a:noFill/>
          <a:ln w="10478">
            <a:solidFill>
              <a:srgbClr val="D9C7A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589A95-CFD5-43BC-9732-BDE8E95362E6}"/>
              </a:ext>
            </a:extLst>
          </p:cNvPr>
          <p:cNvSpPr>
            <a:spLocks noGrp="1"/>
          </p:cNvSpPr>
          <p:nvPr/>
        </p:nvSpPr>
        <p:spPr>
          <a:xfrm>
            <a:off x="3581400" y="4552950"/>
            <a:ext cx="5143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239671-ED9B-4E75-AE11-A63508A1613B}"/>
              </a:ext>
            </a:extLst>
          </p:cNvPr>
          <p:cNvSpPr>
            <a:spLocks noGrp="1"/>
          </p:cNvSpPr>
          <p:nvPr/>
        </p:nvSpPr>
        <p:spPr>
          <a:xfrm>
            <a:off x="4171950" y="4552950"/>
            <a:ext cx="21431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HARD TO TRACK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42E41E-1A46-4D56-9887-50E40A2DE623}"/>
              </a:ext>
            </a:extLst>
          </p:cNvPr>
          <p:cNvSpPr>
            <a:spLocks noGrp="1"/>
          </p:cNvSpPr>
          <p:nvPr/>
        </p:nvSpPr>
        <p:spPr>
          <a:xfrm>
            <a:off x="6191250" y="4543425"/>
            <a:ext cx="46101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Review status, attendance and participation are difficult to follow consistently.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1635E03-2386-43A8-9D31-5AA6EDE21D8D}"/>
              </a:ext>
            </a:extLst>
          </p:cNvPr>
          <p:cNvSpPr>
            <a:spLocks noGrp="1"/>
          </p:cNvSpPr>
          <p:nvPr/>
        </p:nvSpPr>
        <p:spPr>
          <a:xfrm>
            <a:off x="685800" y="5743575"/>
            <a:ext cx="10496550" cy="428625"/>
          </a:xfrm>
          <a:prstGeom prst="roundRect">
            <a:avLst>
              <a:gd name="adj" fmla="val 17778"/>
            </a:avLst>
          </a:prstGeom>
          <a:solidFill>
            <a:srgbClr val="2D1709"/>
          </a:solidFill>
          <a:ln w="9525">
            <a:solidFill>
              <a:srgbClr val="2D1709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E01F27-D8BB-4C0B-8033-01E514E8E889}"/>
              </a:ext>
            </a:extLst>
          </p:cNvPr>
          <p:cNvSpPr>
            <a:spLocks noGrp="1"/>
          </p:cNvSpPr>
          <p:nvPr/>
        </p:nvSpPr>
        <p:spPr>
          <a:xfrm>
            <a:off x="885825" y="5791200"/>
            <a:ext cx="10096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4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EventNest brings discovery, registration and approvals into one role-aware campus portal.</a:t>
            </a:r>
          </a:p>
        </p:txBody>
      </p:sp>
    </p:spTree>
    <p:extLst>
      <p:ext uri="{BB962C8B-B14F-4D97-AF65-F5344CB8AC3E}">
        <p14:creationId xmlns:p14="http://schemas.microsoft.com/office/powerpoint/2010/main" val="559785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9EB"/>
            </a:gs>
            <a:gs pos="62000">
              <a:srgbClr val="FFE8BD"/>
            </a:gs>
            <a:gs pos="100000">
              <a:srgbClr val="FFD3C6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66C8BBB5-82CF-436F-8CB1-2D184B058D08}"/>
              </a:ext>
            </a:extLst>
          </p:cNvPr>
          <p:cNvSpPr>
            <a:spLocks noGrp="1"/>
          </p:cNvSpPr>
          <p:nvPr/>
        </p:nvSpPr>
        <p:spPr>
          <a:xfrm>
            <a:off x="609600" y="96202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 dirty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CD57C-B174-4A35-BB34-13871FA971B2}"/>
              </a:ext>
            </a:extLst>
          </p:cNvPr>
          <p:cNvSpPr>
            <a:spLocks noGrp="1"/>
          </p:cNvSpPr>
          <p:nvPr/>
        </p:nvSpPr>
        <p:spPr>
          <a:xfrm>
            <a:off x="609600" y="1514475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 dirty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Five connected goals define what </a:t>
            </a:r>
            <a:r>
              <a:rPr sz="1350" b="0" dirty="0" err="1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EventNest</a:t>
            </a:r>
            <a:r>
              <a:rPr sz="1350" b="0" dirty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 helps campus communities do.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32354E-602F-42AB-9D59-97F8E2FFA65F}"/>
              </a:ext>
            </a:extLst>
          </p:cNvPr>
          <p:cNvSpPr>
            <a:spLocks noGrp="1"/>
          </p:cNvSpPr>
          <p:nvPr/>
        </p:nvSpPr>
        <p:spPr>
          <a:xfrm>
            <a:off x="10382250" y="647700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03 / 12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B789B0-4DDC-4C39-8CC3-1B12A0213FFD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1905000" cy="243840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9B7592-7C96-4234-8FEE-131A7A296AA7}"/>
              </a:ext>
            </a:extLst>
          </p:cNvPr>
          <p:cNvSpPr>
            <a:spLocks noGrp="1"/>
          </p:cNvSpPr>
          <p:nvPr/>
        </p:nvSpPr>
        <p:spPr>
          <a:xfrm>
            <a:off x="771525" y="2152650"/>
            <a:ext cx="4572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9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DCF216-E599-480E-ABF4-D890DB8F2CA3}"/>
              </a:ext>
            </a:extLst>
          </p:cNvPr>
          <p:cNvSpPr>
            <a:spLocks noGrp="1"/>
          </p:cNvSpPr>
          <p:nvPr/>
        </p:nvSpPr>
        <p:spPr>
          <a:xfrm>
            <a:off x="771525" y="2638425"/>
            <a:ext cx="16002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UNIFIED PLATFORM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3177035-3780-49C9-87C4-932A2DDB2757}"/>
              </a:ext>
            </a:extLst>
          </p:cNvPr>
          <p:cNvSpPr>
            <a:spLocks noGrp="1"/>
          </p:cNvSpPr>
          <p:nvPr/>
        </p:nvSpPr>
        <p:spPr>
          <a:xfrm>
            <a:off x="771525" y="3086100"/>
            <a:ext cx="1581150" cy="0"/>
          </a:xfrm>
          <a:prstGeom prst="line">
            <a:avLst/>
          </a:prstGeom>
          <a:noFill/>
          <a:ln w="9525">
            <a:solidFill>
              <a:srgbClr val="D9C7A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3624B5-2C9D-4905-B796-257EBA116E64}"/>
              </a:ext>
            </a:extLst>
          </p:cNvPr>
          <p:cNvSpPr>
            <a:spLocks noGrp="1"/>
          </p:cNvSpPr>
          <p:nvPr/>
        </p:nvSpPr>
        <p:spPr>
          <a:xfrm>
            <a:off x="771525" y="3219450"/>
            <a:ext cx="16002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Bring campus events, competitions, clubs, and student stories into one portal.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1D267AB-88CD-4267-85A8-4E59B6D236F6}"/>
              </a:ext>
            </a:extLst>
          </p:cNvPr>
          <p:cNvSpPr>
            <a:spLocks noGrp="1"/>
          </p:cNvSpPr>
          <p:nvPr/>
        </p:nvSpPr>
        <p:spPr>
          <a:xfrm>
            <a:off x="2533650" y="3228975"/>
            <a:ext cx="276225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1774B23-3B72-4BF1-8D15-BF78CA87082C}"/>
              </a:ext>
            </a:extLst>
          </p:cNvPr>
          <p:cNvSpPr>
            <a:spLocks noGrp="1"/>
          </p:cNvSpPr>
          <p:nvPr/>
        </p:nvSpPr>
        <p:spPr>
          <a:xfrm>
            <a:off x="2771775" y="3181350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B6055BB-336F-4DA4-A391-778413EE565F}"/>
              </a:ext>
            </a:extLst>
          </p:cNvPr>
          <p:cNvSpPr>
            <a:spLocks noGrp="1"/>
          </p:cNvSpPr>
          <p:nvPr/>
        </p:nvSpPr>
        <p:spPr>
          <a:xfrm>
            <a:off x="2876550" y="2009775"/>
            <a:ext cx="1905000" cy="243840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0E8B15-FB87-4080-BAB8-2B715B84A113}"/>
              </a:ext>
            </a:extLst>
          </p:cNvPr>
          <p:cNvSpPr>
            <a:spLocks noGrp="1"/>
          </p:cNvSpPr>
          <p:nvPr/>
        </p:nvSpPr>
        <p:spPr>
          <a:xfrm>
            <a:off x="3038475" y="2152650"/>
            <a:ext cx="4572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9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160274-B2D3-4EBD-BFF4-FC240CACD293}"/>
              </a:ext>
            </a:extLst>
          </p:cNvPr>
          <p:cNvSpPr>
            <a:spLocks noGrp="1"/>
          </p:cNvSpPr>
          <p:nvPr/>
        </p:nvSpPr>
        <p:spPr>
          <a:xfrm>
            <a:off x="3038475" y="2638425"/>
            <a:ext cx="16002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BROWSE + REGISTER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95A51A6-20D7-44EC-899A-E951A54A4FEC}"/>
              </a:ext>
            </a:extLst>
          </p:cNvPr>
          <p:cNvSpPr>
            <a:spLocks noGrp="1"/>
          </p:cNvSpPr>
          <p:nvPr/>
        </p:nvSpPr>
        <p:spPr>
          <a:xfrm>
            <a:off x="3038475" y="3086100"/>
            <a:ext cx="1581150" cy="0"/>
          </a:xfrm>
          <a:prstGeom prst="line">
            <a:avLst/>
          </a:prstGeom>
          <a:noFill/>
          <a:ln w="9525">
            <a:solidFill>
              <a:srgbClr val="D9C7AB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DE1B12-83FA-470A-8612-18556BBFD631}"/>
              </a:ext>
            </a:extLst>
          </p:cNvPr>
          <p:cNvSpPr>
            <a:spLocks noGrp="1"/>
          </p:cNvSpPr>
          <p:nvPr/>
        </p:nvSpPr>
        <p:spPr>
          <a:xfrm>
            <a:off x="3038475" y="3219450"/>
            <a:ext cx="16002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Let users browse activities and manage registrations.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BFA1DE6C-7DDD-47AA-ABDE-02F0C4482664}"/>
              </a:ext>
            </a:extLst>
          </p:cNvPr>
          <p:cNvSpPr>
            <a:spLocks noGrp="1"/>
          </p:cNvSpPr>
          <p:nvPr/>
        </p:nvSpPr>
        <p:spPr>
          <a:xfrm>
            <a:off x="4800600" y="3228975"/>
            <a:ext cx="276225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A8F6F97E-A931-4B41-989F-1276EE66479F}"/>
              </a:ext>
            </a:extLst>
          </p:cNvPr>
          <p:cNvSpPr>
            <a:spLocks noGrp="1"/>
          </p:cNvSpPr>
          <p:nvPr/>
        </p:nvSpPr>
        <p:spPr>
          <a:xfrm>
            <a:off x="5038725" y="3181350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083E907-1B5D-4218-95AF-0FDE6DCFD457}"/>
              </a:ext>
            </a:extLst>
          </p:cNvPr>
          <p:cNvSpPr>
            <a:spLocks noGrp="1"/>
          </p:cNvSpPr>
          <p:nvPr/>
        </p:nvSpPr>
        <p:spPr>
          <a:xfrm>
            <a:off x="5143500" y="2009775"/>
            <a:ext cx="1905000" cy="2438400"/>
          </a:xfrm>
          <a:prstGeom prst="roundRect">
            <a:avLst>
              <a:gd name="adj" fmla="val 4000"/>
            </a:avLst>
          </a:prstGeom>
          <a:solidFill>
            <a:srgbClr val="FFE8BD"/>
          </a:solidFill>
          <a:ln w="13335">
            <a:solidFill>
              <a:srgbClr val="D9C7AB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B0AA6D-DE0D-468B-A943-48676BEC9028}"/>
              </a:ext>
            </a:extLst>
          </p:cNvPr>
          <p:cNvSpPr>
            <a:spLocks noGrp="1"/>
          </p:cNvSpPr>
          <p:nvPr/>
        </p:nvSpPr>
        <p:spPr>
          <a:xfrm>
            <a:off x="5305425" y="2152650"/>
            <a:ext cx="4572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9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8DE168-4A9C-428C-8087-FDA33BEB19D3}"/>
              </a:ext>
            </a:extLst>
          </p:cNvPr>
          <p:cNvSpPr>
            <a:spLocks noGrp="1"/>
          </p:cNvSpPr>
          <p:nvPr/>
        </p:nvSpPr>
        <p:spPr>
          <a:xfrm>
            <a:off x="5305425" y="2638425"/>
            <a:ext cx="16002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PROPOSAL REVIEW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8509A269-5D9F-4931-8F07-65A3F3D6A4FF}"/>
              </a:ext>
            </a:extLst>
          </p:cNvPr>
          <p:cNvSpPr>
            <a:spLocks noGrp="1"/>
          </p:cNvSpPr>
          <p:nvPr/>
        </p:nvSpPr>
        <p:spPr>
          <a:xfrm>
            <a:off x="5305425" y="3086100"/>
            <a:ext cx="1581150" cy="0"/>
          </a:xfrm>
          <a:prstGeom prst="line">
            <a:avLst/>
          </a:prstGeom>
          <a:noFill/>
          <a:ln w="9525">
            <a:solidFill>
              <a:srgbClr val="D9C7AB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29DE3A-635A-4758-8AA5-D6B856F884C7}"/>
              </a:ext>
            </a:extLst>
          </p:cNvPr>
          <p:cNvSpPr>
            <a:spLocks noGrp="1"/>
          </p:cNvSpPr>
          <p:nvPr/>
        </p:nvSpPr>
        <p:spPr>
          <a:xfrm>
            <a:off x="5305425" y="3219450"/>
            <a:ext cx="16002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Support event proposals, review decisions, and requested revisions.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4AA6B753-A9EA-413A-A88E-029925CAF386}"/>
              </a:ext>
            </a:extLst>
          </p:cNvPr>
          <p:cNvSpPr>
            <a:spLocks noGrp="1"/>
          </p:cNvSpPr>
          <p:nvPr/>
        </p:nvSpPr>
        <p:spPr>
          <a:xfrm>
            <a:off x="7067550" y="3228975"/>
            <a:ext cx="276225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65EA91D3-4E46-4EA7-AD51-F405AD153550}"/>
              </a:ext>
            </a:extLst>
          </p:cNvPr>
          <p:cNvSpPr>
            <a:spLocks noGrp="1"/>
          </p:cNvSpPr>
          <p:nvPr/>
        </p:nvSpPr>
        <p:spPr>
          <a:xfrm>
            <a:off x="7305675" y="3181350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A30DEBA-9910-4495-A44E-EBB03A6F11F5}"/>
              </a:ext>
            </a:extLst>
          </p:cNvPr>
          <p:cNvSpPr>
            <a:spLocks noGrp="1"/>
          </p:cNvSpPr>
          <p:nvPr/>
        </p:nvSpPr>
        <p:spPr>
          <a:xfrm>
            <a:off x="7410450" y="2009775"/>
            <a:ext cx="1905000" cy="243840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0E4007-D856-4658-8A9C-4260FBEF338B}"/>
              </a:ext>
            </a:extLst>
          </p:cNvPr>
          <p:cNvSpPr>
            <a:spLocks noGrp="1"/>
          </p:cNvSpPr>
          <p:nvPr/>
        </p:nvSpPr>
        <p:spPr>
          <a:xfrm>
            <a:off x="7572375" y="2152650"/>
            <a:ext cx="4572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9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DA121A-C008-443F-88C5-522FB3A48B1E}"/>
              </a:ext>
            </a:extLst>
          </p:cNvPr>
          <p:cNvSpPr>
            <a:spLocks noGrp="1"/>
          </p:cNvSpPr>
          <p:nvPr/>
        </p:nvSpPr>
        <p:spPr>
          <a:xfrm>
            <a:off x="7572375" y="2638425"/>
            <a:ext cx="16002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ROLE-BASED ACCESS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631EF4F2-7C34-44CB-B49B-9EE0C849495B}"/>
              </a:ext>
            </a:extLst>
          </p:cNvPr>
          <p:cNvSpPr>
            <a:spLocks noGrp="1"/>
          </p:cNvSpPr>
          <p:nvPr/>
        </p:nvSpPr>
        <p:spPr>
          <a:xfrm>
            <a:off x="7572375" y="3086100"/>
            <a:ext cx="1581150" cy="0"/>
          </a:xfrm>
          <a:prstGeom prst="line">
            <a:avLst/>
          </a:prstGeom>
          <a:noFill/>
          <a:ln w="9525">
            <a:solidFill>
              <a:srgbClr val="D9C7AB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7D5CD2-4D14-42ED-AE18-698D5C0424AD}"/>
              </a:ext>
            </a:extLst>
          </p:cNvPr>
          <p:cNvSpPr>
            <a:spLocks noGrp="1"/>
          </p:cNvSpPr>
          <p:nvPr/>
        </p:nvSpPr>
        <p:spPr>
          <a:xfrm>
            <a:off x="7572375" y="3219450"/>
            <a:ext cx="16002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Give administrators and authorized staff tools suited to their roles.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4F7178F9-E57D-4D67-9A62-2130E366DCE8}"/>
              </a:ext>
            </a:extLst>
          </p:cNvPr>
          <p:cNvSpPr>
            <a:spLocks noGrp="1"/>
          </p:cNvSpPr>
          <p:nvPr/>
        </p:nvSpPr>
        <p:spPr>
          <a:xfrm>
            <a:off x="9334500" y="3228975"/>
            <a:ext cx="276225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5744BF64-C909-4484-B0F6-324D6E09F289}"/>
              </a:ext>
            </a:extLst>
          </p:cNvPr>
          <p:cNvSpPr>
            <a:spLocks noGrp="1"/>
          </p:cNvSpPr>
          <p:nvPr/>
        </p:nvSpPr>
        <p:spPr>
          <a:xfrm>
            <a:off x="9572625" y="3181350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C094398-DFC1-44E3-A61F-1027FF51B87B}"/>
              </a:ext>
            </a:extLst>
          </p:cNvPr>
          <p:cNvSpPr>
            <a:spLocks noGrp="1"/>
          </p:cNvSpPr>
          <p:nvPr/>
        </p:nvSpPr>
        <p:spPr>
          <a:xfrm>
            <a:off x="9677400" y="2009775"/>
            <a:ext cx="1905000" cy="243840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B0A0A6-A02E-4867-AAFF-1A14ADA9D868}"/>
              </a:ext>
            </a:extLst>
          </p:cNvPr>
          <p:cNvSpPr>
            <a:spLocks noGrp="1"/>
          </p:cNvSpPr>
          <p:nvPr/>
        </p:nvSpPr>
        <p:spPr>
          <a:xfrm>
            <a:off x="9839325" y="2152650"/>
            <a:ext cx="4572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9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1DC4AD-44F3-42B2-BB72-E09E0103F7F7}"/>
              </a:ext>
            </a:extLst>
          </p:cNvPr>
          <p:cNvSpPr>
            <a:spLocks noGrp="1"/>
          </p:cNvSpPr>
          <p:nvPr/>
        </p:nvSpPr>
        <p:spPr>
          <a:xfrm>
            <a:off x="9839325" y="2638425"/>
            <a:ext cx="16002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ORGANIZED DATA</a:t>
            </a:r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C0A9B25F-8603-4D93-9EBC-45D9C3292350}"/>
              </a:ext>
            </a:extLst>
          </p:cNvPr>
          <p:cNvSpPr>
            <a:spLocks noGrp="1"/>
          </p:cNvSpPr>
          <p:nvPr/>
        </p:nvSpPr>
        <p:spPr>
          <a:xfrm>
            <a:off x="9839325" y="3086100"/>
            <a:ext cx="1581150" cy="0"/>
          </a:xfrm>
          <a:prstGeom prst="line">
            <a:avLst/>
          </a:prstGeom>
          <a:noFill/>
          <a:ln w="9525">
            <a:solidFill>
              <a:srgbClr val="D9C7AB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14324F-9D69-493A-BA60-8D01C1B74BB1}"/>
              </a:ext>
            </a:extLst>
          </p:cNvPr>
          <p:cNvSpPr>
            <a:spLocks noGrp="1"/>
          </p:cNvSpPr>
          <p:nvPr/>
        </p:nvSpPr>
        <p:spPr>
          <a:xfrm>
            <a:off x="9839325" y="3219450"/>
            <a:ext cx="16002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Keep event and account data organized in WordPress and custom database tables.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23819D3-1EF8-489F-BAED-9B5056A45222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10515600" cy="1114425"/>
          </a:xfrm>
          <a:prstGeom prst="roundRect">
            <a:avLst>
              <a:gd name="adj" fmla="val 6838"/>
            </a:avLst>
          </a:prstGeom>
          <a:solidFill>
            <a:srgbClr val="2D1709"/>
          </a:solidFill>
          <a:ln w="12383">
            <a:solidFill>
              <a:srgbClr val="2D1709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C29C98-5371-4CD9-B0BB-D032E2EA8D0F}"/>
              </a:ext>
            </a:extLst>
          </p:cNvPr>
          <p:cNvSpPr>
            <a:spLocks noGrp="1"/>
          </p:cNvSpPr>
          <p:nvPr/>
        </p:nvSpPr>
        <p:spPr>
          <a:xfrm>
            <a:off x="895350" y="4867275"/>
            <a:ext cx="1714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97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rPr>
              <a:t>THE OUTCOME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3E98CA2-A647-4CE6-A488-7D635FE606D5}"/>
              </a:ext>
            </a:extLst>
          </p:cNvPr>
          <p:cNvSpPr>
            <a:spLocks noGrp="1"/>
          </p:cNvSpPr>
          <p:nvPr/>
        </p:nvSpPr>
        <p:spPr>
          <a:xfrm>
            <a:off x="895350" y="5162550"/>
            <a:ext cx="9667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5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One route for participation, proposal review and role-based campus operations.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BD61AA-A2A6-4A56-8AE2-98D6AFB79BAE}"/>
              </a:ext>
            </a:extLst>
          </p:cNvPr>
          <p:cNvSpPr>
            <a:spLocks noGrp="1"/>
          </p:cNvSpPr>
          <p:nvPr/>
        </p:nvSpPr>
        <p:spPr>
          <a:xfrm>
            <a:off x="895350" y="5505450"/>
            <a:ext cx="962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FFE8BD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0">
                <a:solidFill>
                  <a:srgbClr val="FFE8BD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FFE8BD"/>
                </a:solidFill>
                <a:latin typeface="IBM Plex Sans"/>
                <a:ea typeface="IBM Plex Sans"/>
                <a:cs typeface="IBM Plex Sans"/>
              </a:rPr>
              <a:t>Profiles · registrations · revisions · organized records</a:t>
            </a:r>
          </a:p>
        </p:txBody>
      </p:sp>
    </p:spTree>
    <p:extLst>
      <p:ext uri="{BB962C8B-B14F-4D97-AF65-F5344CB8AC3E}">
        <p14:creationId xmlns:p14="http://schemas.microsoft.com/office/powerpoint/2010/main" val="1176265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9EB"/>
            </a:gs>
            <a:gs pos="62000">
              <a:srgbClr val="FFE8BD"/>
            </a:gs>
            <a:gs pos="100000">
              <a:srgbClr val="FFD3C6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CDDE32B6-5234-47B3-BF82-BF2F32580DBA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Technology Used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2A8039-F865-46E5-B1E7-71295F015F42}"/>
              </a:ext>
            </a:extLst>
          </p:cNvPr>
          <p:cNvSpPr>
            <a:spLocks noGrp="1"/>
          </p:cNvSpPr>
          <p:nvPr/>
        </p:nvSpPr>
        <p:spPr>
          <a:xfrm>
            <a:off x="628650" y="866775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WordPress, PHP, MariaDB and the EventNest theme and plugin form the local stack.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0A894F-17E4-4783-B160-53E203BDE23F}"/>
              </a:ext>
            </a:extLst>
          </p:cNvPr>
          <p:cNvSpPr>
            <a:spLocks noGrp="1"/>
          </p:cNvSpPr>
          <p:nvPr/>
        </p:nvSpPr>
        <p:spPr>
          <a:xfrm>
            <a:off x="10382250" y="647700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04 / 12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0A29F9-DFAF-4655-AC3C-01AC3D9F644F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6019800" cy="723900"/>
          </a:xfrm>
          <a:prstGeom prst="roundRect">
            <a:avLst>
              <a:gd name="adj" fmla="val 10526"/>
            </a:avLst>
          </a:prstGeom>
          <a:solidFill>
            <a:srgbClr val="FFE8BD"/>
          </a:solidFill>
          <a:ln w="11430">
            <a:solidFill>
              <a:srgbClr val="D9C7AB"/>
            </a:solidFill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28EFAD-CA70-4ED9-BB63-1B3A04F991BC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1257300" cy="723900"/>
          </a:xfrm>
          <a:prstGeom prst="roundRect">
            <a:avLst>
              <a:gd name="adj" fmla="val 10526"/>
            </a:avLst>
          </a:prstGeom>
          <a:solidFill>
            <a:srgbClr val="F2550A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FC0C59-4597-43D9-A3FC-6F8096BE3740}"/>
              </a:ext>
            </a:extLst>
          </p:cNvPr>
          <p:cNvSpPr>
            <a:spLocks noGrp="1"/>
          </p:cNvSpPr>
          <p:nvPr/>
        </p:nvSpPr>
        <p:spPr>
          <a:xfrm>
            <a:off x="714375" y="1609725"/>
            <a:ext cx="1047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9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INTERFACE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E501CA-9BF9-487E-8FAA-715BA5564CC3}"/>
              </a:ext>
            </a:extLst>
          </p:cNvPr>
          <p:cNvSpPr>
            <a:spLocks noGrp="1"/>
          </p:cNvSpPr>
          <p:nvPr/>
        </p:nvSpPr>
        <p:spPr>
          <a:xfrm>
            <a:off x="2047875" y="1581150"/>
            <a:ext cx="4343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HTML5 · CSS · JavaScript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AF0E6E-427A-4ECF-99AE-C673CC304FB1}"/>
              </a:ext>
            </a:extLst>
          </p:cNvPr>
          <p:cNvSpPr>
            <a:spLocks noGrp="1"/>
          </p:cNvSpPr>
          <p:nvPr/>
        </p:nvSpPr>
        <p:spPr>
          <a:xfrm>
            <a:off x="2047875" y="1857375"/>
            <a:ext cx="434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Responsive pages and interactions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C26387A-966C-4BBA-88AF-B9F308F54ABD}"/>
              </a:ext>
            </a:extLst>
          </p:cNvPr>
          <p:cNvSpPr>
            <a:spLocks noGrp="1"/>
          </p:cNvSpPr>
          <p:nvPr/>
        </p:nvSpPr>
        <p:spPr>
          <a:xfrm>
            <a:off x="3619500" y="2228850"/>
            <a:ext cx="0" cy="47625"/>
          </a:xfrm>
          <a:prstGeom prst="line">
            <a:avLst/>
          </a:prstGeom>
          <a:noFill/>
          <a:ln w="20955">
            <a:solidFill>
              <a:srgbClr val="F2550A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DC3389-B3C3-4257-938B-2A248306459B}"/>
              </a:ext>
            </a:extLst>
          </p:cNvPr>
          <p:cNvSpPr>
            <a:spLocks noGrp="1"/>
          </p:cNvSpPr>
          <p:nvPr/>
        </p:nvSpPr>
        <p:spPr>
          <a:xfrm>
            <a:off x="3533775" y="219075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9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↓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DB17AC-45DC-4E15-AA00-DCE4E75BEE79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6019800" cy="723900"/>
          </a:xfrm>
          <a:prstGeom prst="roundRect">
            <a:avLst>
              <a:gd name="adj" fmla="val 10526"/>
            </a:avLst>
          </a:prstGeom>
          <a:solidFill>
            <a:srgbClr val="FFFDF7"/>
          </a:solidFill>
          <a:ln w="11430">
            <a:solidFill>
              <a:srgbClr val="D9C7AB"/>
            </a:solidFill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3EA011D-6EEA-4FB4-8865-71A5EF2DA80D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1257300" cy="723900"/>
          </a:xfrm>
          <a:prstGeom prst="roundRect">
            <a:avLst>
              <a:gd name="adj" fmla="val 10526"/>
            </a:avLst>
          </a:prstGeom>
          <a:solidFill>
            <a:srgbClr val="245B87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F33401-C76A-4E87-BB3E-E4FA4E169925}"/>
              </a:ext>
            </a:extLst>
          </p:cNvPr>
          <p:cNvSpPr>
            <a:spLocks noGrp="1"/>
          </p:cNvSpPr>
          <p:nvPr/>
        </p:nvSpPr>
        <p:spPr>
          <a:xfrm>
            <a:off x="714375" y="2466975"/>
            <a:ext cx="1047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9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THEME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1E5BC0-C57A-4C3C-9844-DB023ED3D398}"/>
              </a:ext>
            </a:extLst>
          </p:cNvPr>
          <p:cNvSpPr>
            <a:spLocks noGrp="1"/>
          </p:cNvSpPr>
          <p:nvPr/>
        </p:nvSpPr>
        <p:spPr>
          <a:xfrm>
            <a:off x="2047875" y="2438400"/>
            <a:ext cx="4343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EventNest theme 1.2.15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4C07A-C3B6-41DD-BB92-9967502205E1}"/>
              </a:ext>
            </a:extLst>
          </p:cNvPr>
          <p:cNvSpPr>
            <a:spLocks noGrp="1"/>
          </p:cNvSpPr>
          <p:nvPr/>
        </p:nvSpPr>
        <p:spPr>
          <a:xfrm>
            <a:off x="2047875" y="2714625"/>
            <a:ext cx="434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Templates · navigation · visual system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5000F330-F0A2-4532-AA10-A9FCE373E46A}"/>
              </a:ext>
            </a:extLst>
          </p:cNvPr>
          <p:cNvSpPr>
            <a:spLocks noGrp="1"/>
          </p:cNvSpPr>
          <p:nvPr/>
        </p:nvSpPr>
        <p:spPr>
          <a:xfrm>
            <a:off x="3619500" y="3086100"/>
            <a:ext cx="0" cy="47625"/>
          </a:xfrm>
          <a:prstGeom prst="line">
            <a:avLst/>
          </a:prstGeom>
          <a:noFill/>
          <a:ln w="20955">
            <a:solidFill>
              <a:srgbClr val="F2550A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B99680-139B-4D80-9D33-C6056D897265}"/>
              </a:ext>
            </a:extLst>
          </p:cNvPr>
          <p:cNvSpPr>
            <a:spLocks noGrp="1"/>
          </p:cNvSpPr>
          <p:nvPr/>
        </p:nvSpPr>
        <p:spPr>
          <a:xfrm>
            <a:off x="3533775" y="304800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9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↓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2FFFD5E-622B-4B71-8925-6A5FF3F0A3FC}"/>
              </a:ext>
            </a:extLst>
          </p:cNvPr>
          <p:cNvSpPr>
            <a:spLocks noGrp="1"/>
          </p:cNvSpPr>
          <p:nvPr/>
        </p:nvSpPr>
        <p:spPr>
          <a:xfrm>
            <a:off x="609600" y="3209925"/>
            <a:ext cx="6019800" cy="723900"/>
          </a:xfrm>
          <a:prstGeom prst="roundRect">
            <a:avLst>
              <a:gd name="adj" fmla="val 10526"/>
            </a:avLst>
          </a:prstGeom>
          <a:solidFill>
            <a:srgbClr val="FFE8BD"/>
          </a:solidFill>
          <a:ln w="11430">
            <a:solidFill>
              <a:srgbClr val="D9C7AB"/>
            </a:solidFill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BC4399C-D0EA-4727-87CD-96D4C14D686E}"/>
              </a:ext>
            </a:extLst>
          </p:cNvPr>
          <p:cNvSpPr>
            <a:spLocks noGrp="1"/>
          </p:cNvSpPr>
          <p:nvPr/>
        </p:nvSpPr>
        <p:spPr>
          <a:xfrm>
            <a:off x="609600" y="3209925"/>
            <a:ext cx="1257300" cy="723900"/>
          </a:xfrm>
          <a:prstGeom prst="roundRect">
            <a:avLst>
              <a:gd name="adj" fmla="val 10526"/>
            </a:avLst>
          </a:prstGeom>
          <a:solidFill>
            <a:srgbClr val="F2550A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0021CD-A449-4D5B-9E3A-A33B2D447066}"/>
              </a:ext>
            </a:extLst>
          </p:cNvPr>
          <p:cNvSpPr>
            <a:spLocks noGrp="1"/>
          </p:cNvSpPr>
          <p:nvPr/>
        </p:nvSpPr>
        <p:spPr>
          <a:xfrm>
            <a:off x="714375" y="3324225"/>
            <a:ext cx="1047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9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APPLICATION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1AB8B3-8C54-4971-B20C-6C65F894C67F}"/>
              </a:ext>
            </a:extLst>
          </p:cNvPr>
          <p:cNvSpPr>
            <a:spLocks noGrp="1"/>
          </p:cNvSpPr>
          <p:nvPr/>
        </p:nvSpPr>
        <p:spPr>
          <a:xfrm>
            <a:off x="2047875" y="3295650"/>
            <a:ext cx="4343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EventNest Core 0.9.2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A05731-F163-4C9A-8B97-D3C58BCF1535}"/>
              </a:ext>
            </a:extLst>
          </p:cNvPr>
          <p:cNvSpPr>
            <a:spLocks noGrp="1"/>
          </p:cNvSpPr>
          <p:nvPr/>
        </p:nvSpPr>
        <p:spPr>
          <a:xfrm>
            <a:off x="2047875" y="3571875"/>
            <a:ext cx="434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Roles · forms · dashboards · approvals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1F2EA354-4BB9-422A-8CB4-1B9D09C8CC66}"/>
              </a:ext>
            </a:extLst>
          </p:cNvPr>
          <p:cNvSpPr>
            <a:spLocks noGrp="1"/>
          </p:cNvSpPr>
          <p:nvPr/>
        </p:nvSpPr>
        <p:spPr>
          <a:xfrm>
            <a:off x="3619500" y="3943350"/>
            <a:ext cx="0" cy="47625"/>
          </a:xfrm>
          <a:prstGeom prst="line">
            <a:avLst/>
          </a:prstGeom>
          <a:noFill/>
          <a:ln w="20955">
            <a:solidFill>
              <a:srgbClr val="F2550A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528F2C-1F80-4C2B-B987-785E08CDADFF}"/>
              </a:ext>
            </a:extLst>
          </p:cNvPr>
          <p:cNvSpPr>
            <a:spLocks noGrp="1"/>
          </p:cNvSpPr>
          <p:nvPr/>
        </p:nvSpPr>
        <p:spPr>
          <a:xfrm>
            <a:off x="3533775" y="390525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9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↓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1A5B74C-E6F0-4919-BE00-E1AA39F1C71F}"/>
              </a:ext>
            </a:extLst>
          </p:cNvPr>
          <p:cNvSpPr>
            <a:spLocks noGrp="1"/>
          </p:cNvSpPr>
          <p:nvPr/>
        </p:nvSpPr>
        <p:spPr>
          <a:xfrm>
            <a:off x="609600" y="4067175"/>
            <a:ext cx="6019800" cy="723900"/>
          </a:xfrm>
          <a:prstGeom prst="roundRect">
            <a:avLst>
              <a:gd name="adj" fmla="val 10526"/>
            </a:avLst>
          </a:prstGeom>
          <a:solidFill>
            <a:srgbClr val="FFFDF7"/>
          </a:solidFill>
          <a:ln w="11430">
            <a:solidFill>
              <a:srgbClr val="D9C7AB"/>
            </a:solidFill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6BB383A-EE8B-4604-9750-6660FE76E0BB}"/>
              </a:ext>
            </a:extLst>
          </p:cNvPr>
          <p:cNvSpPr>
            <a:spLocks noGrp="1"/>
          </p:cNvSpPr>
          <p:nvPr/>
        </p:nvSpPr>
        <p:spPr>
          <a:xfrm>
            <a:off x="609600" y="4067175"/>
            <a:ext cx="1257300" cy="723900"/>
          </a:xfrm>
          <a:prstGeom prst="roundRect">
            <a:avLst>
              <a:gd name="adj" fmla="val 10526"/>
            </a:avLst>
          </a:prstGeom>
          <a:solidFill>
            <a:srgbClr val="245B87"/>
          </a:solidFill>
          <a:ln w="0">
            <a:noFill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3B9DBC-B862-4AEC-B338-230F5F553FB2}"/>
              </a:ext>
            </a:extLst>
          </p:cNvPr>
          <p:cNvSpPr>
            <a:spLocks noGrp="1"/>
          </p:cNvSpPr>
          <p:nvPr/>
        </p:nvSpPr>
        <p:spPr>
          <a:xfrm>
            <a:off x="714375" y="4181475"/>
            <a:ext cx="1047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9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PLATFORM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2DC13E6-198D-44A7-BE2B-5A77C0F5387B}"/>
              </a:ext>
            </a:extLst>
          </p:cNvPr>
          <p:cNvSpPr>
            <a:spLocks noGrp="1"/>
          </p:cNvSpPr>
          <p:nvPr/>
        </p:nvSpPr>
        <p:spPr>
          <a:xfrm>
            <a:off x="2047875" y="4152900"/>
            <a:ext cx="4343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WordPress 7.1.3 · PHP 8.2.12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CB2BD0-FD73-4A83-85C0-82DE670E02CB}"/>
              </a:ext>
            </a:extLst>
          </p:cNvPr>
          <p:cNvSpPr>
            <a:spLocks noGrp="1"/>
          </p:cNvSpPr>
          <p:nvPr/>
        </p:nvSpPr>
        <p:spPr>
          <a:xfrm>
            <a:off x="2047875" y="4429125"/>
            <a:ext cx="434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Content management and server-side logic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19D8C028-2015-4170-AFC0-767DD377468C}"/>
              </a:ext>
            </a:extLst>
          </p:cNvPr>
          <p:cNvSpPr>
            <a:spLocks noGrp="1"/>
          </p:cNvSpPr>
          <p:nvPr/>
        </p:nvSpPr>
        <p:spPr>
          <a:xfrm>
            <a:off x="3619500" y="4800600"/>
            <a:ext cx="0" cy="47625"/>
          </a:xfrm>
          <a:prstGeom prst="line">
            <a:avLst/>
          </a:prstGeom>
          <a:noFill/>
          <a:ln w="20955">
            <a:solidFill>
              <a:srgbClr val="F2550A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CBDF302-A610-4411-8588-5F96DCEEB3B7}"/>
              </a:ext>
            </a:extLst>
          </p:cNvPr>
          <p:cNvSpPr>
            <a:spLocks noGrp="1"/>
          </p:cNvSpPr>
          <p:nvPr/>
        </p:nvSpPr>
        <p:spPr>
          <a:xfrm>
            <a:off x="3533775" y="476250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9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↓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F3FA5A0-F01C-418D-A0A6-2A74BC3B531F}"/>
              </a:ext>
            </a:extLst>
          </p:cNvPr>
          <p:cNvSpPr>
            <a:spLocks noGrp="1"/>
          </p:cNvSpPr>
          <p:nvPr/>
        </p:nvSpPr>
        <p:spPr>
          <a:xfrm>
            <a:off x="609600" y="4924425"/>
            <a:ext cx="6019800" cy="723900"/>
          </a:xfrm>
          <a:prstGeom prst="roundRect">
            <a:avLst>
              <a:gd name="adj" fmla="val 10526"/>
            </a:avLst>
          </a:prstGeom>
          <a:solidFill>
            <a:srgbClr val="FFE8BD"/>
          </a:solidFill>
          <a:ln w="11430">
            <a:solidFill>
              <a:srgbClr val="D9C7AB"/>
            </a:solidFill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141907C-96A6-442E-A4CC-D882EEAF8DBE}"/>
              </a:ext>
            </a:extLst>
          </p:cNvPr>
          <p:cNvSpPr>
            <a:spLocks noGrp="1"/>
          </p:cNvSpPr>
          <p:nvPr/>
        </p:nvSpPr>
        <p:spPr>
          <a:xfrm>
            <a:off x="609600" y="4924425"/>
            <a:ext cx="1257300" cy="723900"/>
          </a:xfrm>
          <a:prstGeom prst="roundRect">
            <a:avLst>
              <a:gd name="adj" fmla="val 10526"/>
            </a:avLst>
          </a:prstGeom>
          <a:solidFill>
            <a:srgbClr val="F2550A"/>
          </a:solidFill>
          <a:ln w="0">
            <a:noFill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162C9B-A6B6-4084-A7A9-1B0C0B350DF1}"/>
              </a:ext>
            </a:extLst>
          </p:cNvPr>
          <p:cNvSpPr>
            <a:spLocks noGrp="1"/>
          </p:cNvSpPr>
          <p:nvPr/>
        </p:nvSpPr>
        <p:spPr>
          <a:xfrm>
            <a:off x="714375" y="5038725"/>
            <a:ext cx="1047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9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DATABASE + LOCAL SERVER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59BF545-3E45-4905-A5A5-7F8CF6F6249F}"/>
              </a:ext>
            </a:extLst>
          </p:cNvPr>
          <p:cNvSpPr>
            <a:spLocks noGrp="1"/>
          </p:cNvSpPr>
          <p:nvPr/>
        </p:nvSpPr>
        <p:spPr>
          <a:xfrm>
            <a:off x="2047875" y="5010150"/>
            <a:ext cx="4343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MariaDB 10.4.32 · XAMPP / Apache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F667D7-89F6-4539-BEC7-66B6E449B353}"/>
              </a:ext>
            </a:extLst>
          </p:cNvPr>
          <p:cNvSpPr>
            <a:spLocks noGrp="1"/>
          </p:cNvSpPr>
          <p:nvPr/>
        </p:nvSpPr>
        <p:spPr>
          <a:xfrm>
            <a:off x="2047875" y="5286375"/>
            <a:ext cx="434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Application data and local development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F7AE724-BC7F-43B4-BBFE-28259370A664}"/>
              </a:ext>
            </a:extLst>
          </p:cNvPr>
          <p:cNvSpPr>
            <a:spLocks noGrp="1"/>
          </p:cNvSpPr>
          <p:nvPr/>
        </p:nvSpPr>
        <p:spPr>
          <a:xfrm>
            <a:off x="7029450" y="1495425"/>
            <a:ext cx="4552950" cy="4572000"/>
          </a:xfrm>
          <a:prstGeom prst="roundRect">
            <a:avLst>
              <a:gd name="adj" fmla="val 1674"/>
            </a:avLst>
          </a:prstGeom>
          <a:solidFill>
            <a:srgbClr val="FFFDF7"/>
          </a:solidFill>
          <a:ln w="12383">
            <a:solidFill>
              <a:srgbClr val="D9C7AB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03771B-1F3D-40D0-B306-1F39C15E6296}"/>
              </a:ext>
            </a:extLst>
          </p:cNvPr>
          <p:cNvSpPr>
            <a:spLocks noGrp="1"/>
          </p:cNvSpPr>
          <p:nvPr/>
        </p:nvSpPr>
        <p:spPr>
          <a:xfrm>
            <a:off x="7277100" y="1676400"/>
            <a:ext cx="4019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CUSTOM WORKFLOW DATA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3FEB3F7-90AD-4535-83F3-2DA9FEA9C9DF}"/>
              </a:ext>
            </a:extLst>
          </p:cNvPr>
          <p:cNvSpPr>
            <a:spLocks noGrp="1"/>
          </p:cNvSpPr>
          <p:nvPr/>
        </p:nvSpPr>
        <p:spPr>
          <a:xfrm>
            <a:off x="7277100" y="2028825"/>
            <a:ext cx="394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5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Registrations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2D9ED2-05B5-4553-9EE6-49A910E6CE1A}"/>
              </a:ext>
            </a:extLst>
          </p:cNvPr>
          <p:cNvSpPr>
            <a:spLocks noGrp="1"/>
          </p:cNvSpPr>
          <p:nvPr/>
        </p:nvSpPr>
        <p:spPr>
          <a:xfrm>
            <a:off x="7277100" y="2314575"/>
            <a:ext cx="39433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wp_en_registrations · wp_en_teams</a:t>
            </a: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3A27A980-ABC0-4EFE-985C-85B7377B708E}"/>
              </a:ext>
            </a:extLst>
          </p:cNvPr>
          <p:cNvSpPr>
            <a:spLocks noGrp="1"/>
          </p:cNvSpPr>
          <p:nvPr/>
        </p:nvSpPr>
        <p:spPr>
          <a:xfrm>
            <a:off x="7277100" y="2667000"/>
            <a:ext cx="4038600" cy="0"/>
          </a:xfrm>
          <a:prstGeom prst="line">
            <a:avLst/>
          </a:prstGeom>
          <a:noFill/>
          <a:ln w="9525">
            <a:solidFill>
              <a:srgbClr val="D9C7AB"/>
            </a:solidFill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1E64DE0-DF24-44CF-B241-446FDD6C57D8}"/>
              </a:ext>
            </a:extLst>
          </p:cNvPr>
          <p:cNvSpPr>
            <a:spLocks noGrp="1"/>
          </p:cNvSpPr>
          <p:nvPr/>
        </p:nvSpPr>
        <p:spPr>
          <a:xfrm>
            <a:off x="7277100" y="2819400"/>
            <a:ext cx="394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5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Proposal history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6B89318-CF87-41F5-9639-057958EBC55B}"/>
              </a:ext>
            </a:extLst>
          </p:cNvPr>
          <p:cNvSpPr>
            <a:spLocks noGrp="1"/>
          </p:cNvSpPr>
          <p:nvPr/>
        </p:nvSpPr>
        <p:spPr>
          <a:xfrm>
            <a:off x="7277100" y="3105150"/>
            <a:ext cx="3943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wp_en_approvals · wp_en_proposal_revisions</a:t>
            </a:r>
          </a:p>
        </p:txBody>
      </p:sp>
      <p:sp>
        <p:nvSpPr>
          <p:cNvPr id="44" name="Straight Connector 43">
            <a:extLst>
              <a:ext uri="{FF2B5EF4-FFF2-40B4-BE49-F238E27FC236}">
                <a16:creationId xmlns:a16="http://schemas.microsoft.com/office/drawing/2014/main" id="{A253E932-3156-4E9B-B29F-5779A155AC0D}"/>
              </a:ext>
            </a:extLst>
          </p:cNvPr>
          <p:cNvSpPr>
            <a:spLocks noGrp="1"/>
          </p:cNvSpPr>
          <p:nvPr/>
        </p:nvSpPr>
        <p:spPr>
          <a:xfrm>
            <a:off x="7277100" y="3486150"/>
            <a:ext cx="4038600" cy="0"/>
          </a:xfrm>
          <a:prstGeom prst="line">
            <a:avLst/>
          </a:prstGeom>
          <a:noFill/>
          <a:ln w="9525">
            <a:solidFill>
              <a:srgbClr val="D9C7AB"/>
            </a:solidFill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3C61EFC-1873-4122-AA4C-51B83CB849EA}"/>
              </a:ext>
            </a:extLst>
          </p:cNvPr>
          <p:cNvSpPr>
            <a:spLocks noGrp="1"/>
          </p:cNvSpPr>
          <p:nvPr/>
        </p:nvSpPr>
        <p:spPr>
          <a:xfrm>
            <a:off x="7277100" y="3638550"/>
            <a:ext cx="394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5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Membership + audit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AB7DCC1-9E14-4CF3-9F12-E1A826F21185}"/>
              </a:ext>
            </a:extLst>
          </p:cNvPr>
          <p:cNvSpPr>
            <a:spLocks noGrp="1"/>
          </p:cNvSpPr>
          <p:nvPr/>
        </p:nvSpPr>
        <p:spPr>
          <a:xfrm>
            <a:off x="7277100" y="3924300"/>
            <a:ext cx="3943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wp_en_club_memberships · wp_en_audit_log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3D14272-98C8-44BE-AAEF-B5B70403062D}"/>
              </a:ext>
            </a:extLst>
          </p:cNvPr>
          <p:cNvSpPr>
            <a:spLocks noGrp="1"/>
          </p:cNvSpPr>
          <p:nvPr/>
        </p:nvSpPr>
        <p:spPr>
          <a:xfrm>
            <a:off x="7277100" y="4419600"/>
            <a:ext cx="4038600" cy="962025"/>
          </a:xfrm>
          <a:prstGeom prst="roundRect">
            <a:avLst>
              <a:gd name="adj" fmla="val 7921"/>
            </a:avLst>
          </a:prstGeom>
          <a:solidFill>
            <a:srgbClr val="FFE8BD"/>
          </a:solidFill>
          <a:ln w="11430">
            <a:solidFill>
              <a:srgbClr val="D9C7AB"/>
            </a:solidFill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F266C8F-02A1-4F63-BED0-DAFC7A4A8641}"/>
              </a:ext>
            </a:extLst>
          </p:cNvPr>
          <p:cNvSpPr>
            <a:spLocks noGrp="1"/>
          </p:cNvSpPr>
          <p:nvPr/>
        </p:nvSpPr>
        <p:spPr>
          <a:xfrm>
            <a:off x="7467600" y="4514850"/>
            <a:ext cx="36195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9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DUPLICATE RSVP GUARD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8EEC7C-BDA6-4CB9-B727-2F5694593FBA}"/>
              </a:ext>
            </a:extLst>
          </p:cNvPr>
          <p:cNvSpPr>
            <a:spLocks noGrp="1"/>
          </p:cNvSpPr>
          <p:nvPr/>
        </p:nvSpPr>
        <p:spPr>
          <a:xfrm>
            <a:off x="7467600" y="4762500"/>
            <a:ext cx="3619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Unique event + user registration pair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6AC8BB-ADE5-4563-8A79-1895C48035F2}"/>
              </a:ext>
            </a:extLst>
          </p:cNvPr>
          <p:cNvSpPr>
            <a:spLocks noGrp="1"/>
          </p:cNvSpPr>
          <p:nvPr/>
        </p:nvSpPr>
        <p:spPr>
          <a:xfrm>
            <a:off x="7467600" y="5057775"/>
            <a:ext cx="3619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Blocks a second active registration.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A52F99D-E299-4A85-BC35-47A8647F79CF}"/>
              </a:ext>
            </a:extLst>
          </p:cNvPr>
          <p:cNvSpPr>
            <a:spLocks noGrp="1"/>
          </p:cNvSpPr>
          <p:nvPr/>
        </p:nvSpPr>
        <p:spPr>
          <a:xfrm>
            <a:off x="7277100" y="5429250"/>
            <a:ext cx="40386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9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9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ACCESS + INPUT SAFEGUARDS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74CFBD7-183C-4568-BAA5-9B772AAF8C79}"/>
              </a:ext>
            </a:extLst>
          </p:cNvPr>
          <p:cNvSpPr>
            <a:spLocks noGrp="1"/>
          </p:cNvSpPr>
          <p:nvPr/>
        </p:nvSpPr>
        <p:spPr>
          <a:xfrm>
            <a:off x="7277100" y="5629275"/>
            <a:ext cx="40386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Role checks · staff approval · hashed passwords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FC99E6F-D12F-4FA6-8040-9D9677918E78}"/>
              </a:ext>
            </a:extLst>
          </p:cNvPr>
          <p:cNvSpPr>
            <a:spLocks noGrp="1"/>
          </p:cNvSpPr>
          <p:nvPr/>
        </p:nvSpPr>
        <p:spPr>
          <a:xfrm>
            <a:off x="7277100" y="5829300"/>
            <a:ext cx="40386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Nonces · sanitization · prepared queries · rate limits</a:t>
            </a:r>
          </a:p>
        </p:txBody>
      </p:sp>
    </p:spTree>
    <p:extLst>
      <p:ext uri="{BB962C8B-B14F-4D97-AF65-F5344CB8AC3E}">
        <p14:creationId xmlns:p14="http://schemas.microsoft.com/office/powerpoint/2010/main" val="1101830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9EB"/>
            </a:gs>
            <a:gs pos="62000">
              <a:srgbClr val="FFE8BD"/>
            </a:gs>
            <a:gs pos="100000">
              <a:srgbClr val="FFD3C6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C1C95883-45B0-4D37-8C6D-D9F8EDA2AAAF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Main Features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BEAB3-78B2-409D-A4A4-1CFD7F8E0E42}"/>
              </a:ext>
            </a:extLst>
          </p:cNvPr>
          <p:cNvSpPr>
            <a:spLocks noGrp="1"/>
          </p:cNvSpPr>
          <p:nvPr/>
        </p:nvSpPr>
        <p:spPr>
          <a:xfrm>
            <a:off x="628650" y="866775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Eight connected features support students, organizers and reviewers.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38B3A4-E652-4205-B69A-9C87007C570B}"/>
              </a:ext>
            </a:extLst>
          </p:cNvPr>
          <p:cNvSpPr>
            <a:spLocks noGrp="1"/>
          </p:cNvSpPr>
          <p:nvPr/>
        </p:nvSpPr>
        <p:spPr>
          <a:xfrm>
            <a:off x="10382250" y="647700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05 / 12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EF31946-0502-4EBB-84A1-2AA220F07BB1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790700" cy="4400550"/>
          </a:xfrm>
          <a:prstGeom prst="roundRect">
            <a:avLst>
              <a:gd name="adj" fmla="val 4255"/>
            </a:avLst>
          </a:prstGeom>
          <a:solidFill>
            <a:srgbClr val="2D1709"/>
          </a:solidFill>
          <a:ln w="12383">
            <a:solidFill>
              <a:srgbClr val="2D1709"/>
            </a:solidFill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D712F6-041B-44FC-B8C4-87FF4225E55B}"/>
              </a:ext>
            </a:extLst>
          </p:cNvPr>
          <p:cNvSpPr>
            <a:spLocks noGrp="1"/>
          </p:cNvSpPr>
          <p:nvPr/>
        </p:nvSpPr>
        <p:spPr>
          <a:xfrm>
            <a:off x="828675" y="1685925"/>
            <a:ext cx="13525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5400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5400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pPr>
            <a:r>
              <a:rPr sz="5400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6C6F67-5AC2-41DC-8668-947C4904EAE5}"/>
              </a:ext>
            </a:extLst>
          </p:cNvPr>
          <p:cNvSpPr>
            <a:spLocks noGrp="1"/>
          </p:cNvSpPr>
          <p:nvPr/>
        </p:nvSpPr>
        <p:spPr>
          <a:xfrm>
            <a:off x="847725" y="2724150"/>
            <a:ext cx="13525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FFE8BD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1">
                <a:solidFill>
                  <a:srgbClr val="FFE8BD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FFE8BD"/>
                </a:solidFill>
                <a:latin typeface="IBM Plex Sans"/>
                <a:ea typeface="IBM Plex Sans"/>
                <a:cs typeface="IBM Plex Sans"/>
              </a:rPr>
              <a:t>KEY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E5654A-13E6-4FB0-A102-9912D7B58A5C}"/>
              </a:ext>
            </a:extLst>
          </p:cNvPr>
          <p:cNvSpPr>
            <a:spLocks noGrp="1"/>
          </p:cNvSpPr>
          <p:nvPr/>
        </p:nvSpPr>
        <p:spPr>
          <a:xfrm>
            <a:off x="847725" y="3038475"/>
            <a:ext cx="1352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FEATURES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102B04C0-F6FA-4990-80F4-4576983FA6E6}"/>
              </a:ext>
            </a:extLst>
          </p:cNvPr>
          <p:cNvSpPr>
            <a:spLocks noGrp="1"/>
          </p:cNvSpPr>
          <p:nvPr/>
        </p:nvSpPr>
        <p:spPr>
          <a:xfrm>
            <a:off x="847725" y="3524250"/>
            <a:ext cx="1285875" cy="0"/>
          </a:xfrm>
          <a:prstGeom prst="line">
            <a:avLst/>
          </a:prstGeom>
          <a:noFill/>
          <a:ln w="9525">
            <a:solidFill>
              <a:srgbClr val="765B43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B88752-A570-4A9C-8F37-F7FAD1758445}"/>
              </a:ext>
            </a:extLst>
          </p:cNvPr>
          <p:cNvSpPr>
            <a:spLocks noGrp="1"/>
          </p:cNvSpPr>
          <p:nvPr/>
        </p:nvSpPr>
        <p:spPr>
          <a:xfrm>
            <a:off x="847725" y="3743325"/>
            <a:ext cx="13525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50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From discovery</a:t>
            </a:r>
          </a:p>
          <a:p>
            <a:pPr algn="l">
              <a:defRPr sz="150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to administration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C1580B-0FB2-4C9C-9100-D9955C965677}"/>
              </a:ext>
            </a:extLst>
          </p:cNvPr>
          <p:cNvSpPr>
            <a:spLocks noGrp="1"/>
          </p:cNvSpPr>
          <p:nvPr/>
        </p:nvSpPr>
        <p:spPr>
          <a:xfrm>
            <a:off x="847725" y="4791075"/>
            <a:ext cx="13525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FFE8BD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0">
                <a:solidFill>
                  <a:srgbClr val="FFE8BD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FFE8BD"/>
                </a:solidFill>
                <a:latin typeface="IBM Plex Sans"/>
                <a:ea typeface="IBM Plex Sans"/>
                <a:cs typeface="IBM Plex Sans"/>
              </a:rPr>
              <a:t>One role-aware</a:t>
            </a:r>
          </a:p>
          <a:p>
            <a:pPr algn="l">
              <a:defRPr sz="1125" b="0">
                <a:solidFill>
                  <a:srgbClr val="FFE8BD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FFE8BD"/>
                </a:solidFill>
                <a:latin typeface="IBM Plex Sans"/>
                <a:ea typeface="IBM Plex Sans"/>
                <a:cs typeface="IBM Plex Sans"/>
              </a:rPr>
              <a:t>campus platform.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A5EB8FC-3015-4213-A5D1-17AC91F60CBF}"/>
              </a:ext>
            </a:extLst>
          </p:cNvPr>
          <p:cNvSpPr>
            <a:spLocks noGrp="1"/>
          </p:cNvSpPr>
          <p:nvPr/>
        </p:nvSpPr>
        <p:spPr>
          <a:xfrm>
            <a:off x="2647950" y="1457325"/>
            <a:ext cx="4248150" cy="971550"/>
          </a:xfrm>
          <a:prstGeom prst="roundRect">
            <a:avLst>
              <a:gd name="adj" fmla="val 7843"/>
            </a:avLst>
          </a:prstGeom>
          <a:solidFill>
            <a:srgbClr val="FFFDF7"/>
          </a:solidFill>
          <a:ln w="11430">
            <a:solidFill>
              <a:srgbClr val="D9C7AB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730D50-8E1B-46F3-AFDB-199AF2B36EFC}"/>
              </a:ext>
            </a:extLst>
          </p:cNvPr>
          <p:cNvSpPr>
            <a:spLocks noGrp="1"/>
          </p:cNvSpPr>
          <p:nvPr/>
        </p:nvSpPr>
        <p:spPr>
          <a:xfrm>
            <a:off x="2800350" y="1571625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2E98F3-5192-4340-9AD4-49D7EF0700E1}"/>
              </a:ext>
            </a:extLst>
          </p:cNvPr>
          <p:cNvSpPr>
            <a:spLocks noGrp="1"/>
          </p:cNvSpPr>
          <p:nvPr/>
        </p:nvSpPr>
        <p:spPr>
          <a:xfrm>
            <a:off x="3257550" y="1552575"/>
            <a:ext cx="3429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CAMPUS PAGES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882FB7-92D4-4832-B4CE-E7E45F264153}"/>
              </a:ext>
            </a:extLst>
          </p:cNvPr>
          <p:cNvSpPr>
            <a:spLocks noGrp="1"/>
          </p:cNvSpPr>
          <p:nvPr/>
        </p:nvSpPr>
        <p:spPr>
          <a:xfrm>
            <a:off x="3257550" y="1838325"/>
            <a:ext cx="342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Events, competitions, clubs and student stories.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BA05C6A-EAE6-4A84-89CE-083D878D7AE4}"/>
              </a:ext>
            </a:extLst>
          </p:cNvPr>
          <p:cNvSpPr>
            <a:spLocks noGrp="1"/>
          </p:cNvSpPr>
          <p:nvPr/>
        </p:nvSpPr>
        <p:spPr>
          <a:xfrm>
            <a:off x="7124700" y="1457325"/>
            <a:ext cx="4248150" cy="971550"/>
          </a:xfrm>
          <a:prstGeom prst="roundRect">
            <a:avLst>
              <a:gd name="adj" fmla="val 7843"/>
            </a:avLst>
          </a:prstGeom>
          <a:solidFill>
            <a:srgbClr val="FFFDF7"/>
          </a:solidFill>
          <a:ln w="11430">
            <a:solidFill>
              <a:srgbClr val="D9C7A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DF40F1-78BC-4A1B-818B-A58E42386B9E}"/>
              </a:ext>
            </a:extLst>
          </p:cNvPr>
          <p:cNvSpPr>
            <a:spLocks noGrp="1"/>
          </p:cNvSpPr>
          <p:nvPr/>
        </p:nvSpPr>
        <p:spPr>
          <a:xfrm>
            <a:off x="7277100" y="1571625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96D1F0-D688-492D-B01D-E325759E44C1}"/>
              </a:ext>
            </a:extLst>
          </p:cNvPr>
          <p:cNvSpPr>
            <a:spLocks noGrp="1"/>
          </p:cNvSpPr>
          <p:nvPr/>
        </p:nvSpPr>
        <p:spPr>
          <a:xfrm>
            <a:off x="7734300" y="1552575"/>
            <a:ext cx="3429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SEARCH + FILTERS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A28B71-1AAB-4120-8C3C-49D4ED3396E8}"/>
              </a:ext>
            </a:extLst>
          </p:cNvPr>
          <p:cNvSpPr>
            <a:spLocks noGrp="1"/>
          </p:cNvSpPr>
          <p:nvPr/>
        </p:nvSpPr>
        <p:spPr>
          <a:xfrm>
            <a:off x="7734300" y="1838325"/>
            <a:ext cx="342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Find activities by keyword and relevant details.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BBE827B-0624-459F-9157-2F75CE6ABD05}"/>
              </a:ext>
            </a:extLst>
          </p:cNvPr>
          <p:cNvSpPr>
            <a:spLocks noGrp="1"/>
          </p:cNvSpPr>
          <p:nvPr/>
        </p:nvSpPr>
        <p:spPr>
          <a:xfrm>
            <a:off x="2647950" y="2562225"/>
            <a:ext cx="4248150" cy="971550"/>
          </a:xfrm>
          <a:prstGeom prst="roundRect">
            <a:avLst>
              <a:gd name="adj" fmla="val 7843"/>
            </a:avLst>
          </a:prstGeom>
          <a:solidFill>
            <a:srgbClr val="FFFDF7"/>
          </a:solidFill>
          <a:ln w="11430">
            <a:solidFill>
              <a:srgbClr val="D9C7A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6A7E2B-4142-427A-8D52-D82EFEF6D0F3}"/>
              </a:ext>
            </a:extLst>
          </p:cNvPr>
          <p:cNvSpPr>
            <a:spLocks noGrp="1"/>
          </p:cNvSpPr>
          <p:nvPr/>
        </p:nvSpPr>
        <p:spPr>
          <a:xfrm>
            <a:off x="2800350" y="2676525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6B88E2-68E4-4330-BBCC-5E2BF546546A}"/>
              </a:ext>
            </a:extLst>
          </p:cNvPr>
          <p:cNvSpPr>
            <a:spLocks noGrp="1"/>
          </p:cNvSpPr>
          <p:nvPr/>
        </p:nvSpPr>
        <p:spPr>
          <a:xfrm>
            <a:off x="3257550" y="2657475"/>
            <a:ext cx="3429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PROFILES + ACCESS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74FB34-753F-4CA1-A21B-389FCD699BDD}"/>
              </a:ext>
            </a:extLst>
          </p:cNvPr>
          <p:cNvSpPr>
            <a:spLocks noGrp="1"/>
          </p:cNvSpPr>
          <p:nvPr/>
        </p:nvSpPr>
        <p:spPr>
          <a:xfrm>
            <a:off x="3257550" y="2943225"/>
            <a:ext cx="342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User profiles, role-based accounts and staff approval.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D5313C3-13E2-4197-AE63-9988A40CD101}"/>
              </a:ext>
            </a:extLst>
          </p:cNvPr>
          <p:cNvSpPr>
            <a:spLocks noGrp="1"/>
          </p:cNvSpPr>
          <p:nvPr/>
        </p:nvSpPr>
        <p:spPr>
          <a:xfrm>
            <a:off x="7124700" y="2562225"/>
            <a:ext cx="4248150" cy="971550"/>
          </a:xfrm>
          <a:prstGeom prst="roundRect">
            <a:avLst>
              <a:gd name="adj" fmla="val 7843"/>
            </a:avLst>
          </a:prstGeom>
          <a:solidFill>
            <a:srgbClr val="FFFDF7"/>
          </a:solidFill>
          <a:ln w="11430">
            <a:solidFill>
              <a:srgbClr val="D9C7AB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6845E6-D913-4DDB-A843-5836742EA3C4}"/>
              </a:ext>
            </a:extLst>
          </p:cNvPr>
          <p:cNvSpPr>
            <a:spLocks noGrp="1"/>
          </p:cNvSpPr>
          <p:nvPr/>
        </p:nvSpPr>
        <p:spPr>
          <a:xfrm>
            <a:off x="7277100" y="2676525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8EB537-901C-4F05-BE24-870EFC3C54C6}"/>
              </a:ext>
            </a:extLst>
          </p:cNvPr>
          <p:cNvSpPr>
            <a:spLocks noGrp="1"/>
          </p:cNvSpPr>
          <p:nvPr/>
        </p:nvSpPr>
        <p:spPr>
          <a:xfrm>
            <a:off x="7734300" y="2657475"/>
            <a:ext cx="3429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REGISTRATIONS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FA1816-5C9E-481B-892F-9D3E7092D2A5}"/>
              </a:ext>
            </a:extLst>
          </p:cNvPr>
          <p:cNvSpPr>
            <a:spLocks noGrp="1"/>
          </p:cNvSpPr>
          <p:nvPr/>
        </p:nvSpPr>
        <p:spPr>
          <a:xfrm>
            <a:off x="7734300" y="2943225"/>
            <a:ext cx="342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Register for events, clubs and competitions.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5E8C502-7ED9-402F-836E-A23E9DCE37EB}"/>
              </a:ext>
            </a:extLst>
          </p:cNvPr>
          <p:cNvSpPr>
            <a:spLocks noGrp="1"/>
          </p:cNvSpPr>
          <p:nvPr/>
        </p:nvSpPr>
        <p:spPr>
          <a:xfrm>
            <a:off x="2647950" y="3667125"/>
            <a:ext cx="4248150" cy="971550"/>
          </a:xfrm>
          <a:prstGeom prst="roundRect">
            <a:avLst>
              <a:gd name="adj" fmla="val 7843"/>
            </a:avLst>
          </a:prstGeom>
          <a:solidFill>
            <a:srgbClr val="FFFDF7"/>
          </a:solidFill>
          <a:ln w="11430">
            <a:solidFill>
              <a:srgbClr val="D9C7AB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DF5A24-D235-407C-8AA6-D8BB4D1E6A04}"/>
              </a:ext>
            </a:extLst>
          </p:cNvPr>
          <p:cNvSpPr>
            <a:spLocks noGrp="1"/>
          </p:cNvSpPr>
          <p:nvPr/>
        </p:nvSpPr>
        <p:spPr>
          <a:xfrm>
            <a:off x="2800350" y="3781425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3E7523-7D42-4542-A0F1-C8150C907D38}"/>
              </a:ext>
            </a:extLst>
          </p:cNvPr>
          <p:cNvSpPr>
            <a:spLocks noGrp="1"/>
          </p:cNvSpPr>
          <p:nvPr/>
        </p:nvSpPr>
        <p:spPr>
          <a:xfrm>
            <a:off x="3257550" y="3762375"/>
            <a:ext cx="3429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PROPOSAL LIFECYCLE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CD6C13-86DE-4854-861B-598E38350D4D}"/>
              </a:ext>
            </a:extLst>
          </p:cNvPr>
          <p:cNvSpPr>
            <a:spLocks noGrp="1"/>
          </p:cNvSpPr>
          <p:nvPr/>
        </p:nvSpPr>
        <p:spPr>
          <a:xfrm>
            <a:off x="3257550" y="4048125"/>
            <a:ext cx="342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 dirty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Submit, review, request revisions and resubmit.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23E2597-4F71-411F-B42D-195E8B3A464D}"/>
              </a:ext>
            </a:extLst>
          </p:cNvPr>
          <p:cNvSpPr>
            <a:spLocks noGrp="1"/>
          </p:cNvSpPr>
          <p:nvPr/>
        </p:nvSpPr>
        <p:spPr>
          <a:xfrm>
            <a:off x="7124700" y="3667125"/>
            <a:ext cx="4248150" cy="971550"/>
          </a:xfrm>
          <a:prstGeom prst="roundRect">
            <a:avLst>
              <a:gd name="adj" fmla="val 7843"/>
            </a:avLst>
          </a:prstGeom>
          <a:solidFill>
            <a:srgbClr val="FFFDF7"/>
          </a:solidFill>
          <a:ln w="11430">
            <a:solidFill>
              <a:srgbClr val="D9C7AB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E3ADB2-568D-487B-B8B5-2381E6C87329}"/>
              </a:ext>
            </a:extLst>
          </p:cNvPr>
          <p:cNvSpPr>
            <a:spLocks noGrp="1"/>
          </p:cNvSpPr>
          <p:nvPr/>
        </p:nvSpPr>
        <p:spPr>
          <a:xfrm>
            <a:off x="7277100" y="3781425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54F5AE9-059F-487C-AC3D-AA2E244ACE01}"/>
              </a:ext>
            </a:extLst>
          </p:cNvPr>
          <p:cNvSpPr>
            <a:spLocks noGrp="1"/>
          </p:cNvSpPr>
          <p:nvPr/>
        </p:nvSpPr>
        <p:spPr>
          <a:xfrm>
            <a:off x="7734300" y="3762375"/>
            <a:ext cx="3429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CLUB LEADERSHIP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C4EE0A8-63F2-4665-A5EF-E30EAB3FF434}"/>
              </a:ext>
            </a:extLst>
          </p:cNvPr>
          <p:cNvSpPr>
            <a:spLocks noGrp="1"/>
          </p:cNvSpPr>
          <p:nvPr/>
        </p:nvSpPr>
        <p:spPr>
          <a:xfrm>
            <a:off x="7734300" y="4048125"/>
            <a:ext cx="342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Manage membership and club leadership.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E47EDDB-8DC5-4062-B492-DD29E5D500D0}"/>
              </a:ext>
            </a:extLst>
          </p:cNvPr>
          <p:cNvSpPr>
            <a:spLocks noGrp="1"/>
          </p:cNvSpPr>
          <p:nvPr/>
        </p:nvSpPr>
        <p:spPr>
          <a:xfrm>
            <a:off x="2647950" y="4772025"/>
            <a:ext cx="4248150" cy="971550"/>
          </a:xfrm>
          <a:prstGeom prst="roundRect">
            <a:avLst>
              <a:gd name="adj" fmla="val 7843"/>
            </a:avLst>
          </a:prstGeom>
          <a:solidFill>
            <a:srgbClr val="FFFDF7"/>
          </a:solidFill>
          <a:ln w="11430">
            <a:solidFill>
              <a:srgbClr val="D9C7AB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5A69035-6B30-4C5B-AD12-4A522EBA0C14}"/>
              </a:ext>
            </a:extLst>
          </p:cNvPr>
          <p:cNvSpPr>
            <a:spLocks noGrp="1"/>
          </p:cNvSpPr>
          <p:nvPr/>
        </p:nvSpPr>
        <p:spPr>
          <a:xfrm>
            <a:off x="2800350" y="4886325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07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26F9256-434E-40A8-ADF8-540CA35CFF64}"/>
              </a:ext>
            </a:extLst>
          </p:cNvPr>
          <p:cNvSpPr>
            <a:spLocks noGrp="1"/>
          </p:cNvSpPr>
          <p:nvPr/>
        </p:nvSpPr>
        <p:spPr>
          <a:xfrm>
            <a:off x="3257550" y="4867275"/>
            <a:ext cx="3429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ROLE-AWARE EVENTS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9BEFD37-9E9B-4D79-9415-8364237CF998}"/>
              </a:ext>
            </a:extLst>
          </p:cNvPr>
          <p:cNvSpPr>
            <a:spLocks noGrp="1"/>
          </p:cNvSpPr>
          <p:nvPr/>
        </p:nvSpPr>
        <p:spPr>
          <a:xfrm>
            <a:off x="3257550" y="5153025"/>
            <a:ext cx="342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Faculty-only events and dashboards by role.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60DF5AB-E003-4D97-9D75-0BC62D1C44B2}"/>
              </a:ext>
            </a:extLst>
          </p:cNvPr>
          <p:cNvSpPr>
            <a:spLocks noGrp="1"/>
          </p:cNvSpPr>
          <p:nvPr/>
        </p:nvSpPr>
        <p:spPr>
          <a:xfrm>
            <a:off x="7124700" y="4772025"/>
            <a:ext cx="4248150" cy="971550"/>
          </a:xfrm>
          <a:prstGeom prst="roundRect">
            <a:avLst>
              <a:gd name="adj" fmla="val 7843"/>
            </a:avLst>
          </a:prstGeom>
          <a:solidFill>
            <a:srgbClr val="FFFDF7"/>
          </a:solidFill>
          <a:ln w="11430">
            <a:solidFill>
              <a:srgbClr val="D9C7AB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E6EB7D-6D82-48C6-97A9-D7E44A2ACB76}"/>
              </a:ext>
            </a:extLst>
          </p:cNvPr>
          <p:cNvSpPr>
            <a:spLocks noGrp="1"/>
          </p:cNvSpPr>
          <p:nvPr/>
        </p:nvSpPr>
        <p:spPr>
          <a:xfrm>
            <a:off x="7277100" y="4886325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08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50EB05-B15D-4830-8A7D-225E0C77F32A}"/>
              </a:ext>
            </a:extLst>
          </p:cNvPr>
          <p:cNvSpPr>
            <a:spLocks noGrp="1"/>
          </p:cNvSpPr>
          <p:nvPr/>
        </p:nvSpPr>
        <p:spPr>
          <a:xfrm>
            <a:off x="7734300" y="4867275"/>
            <a:ext cx="3429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CALENDAR + ADMIN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4F7787D-D07B-4370-AEF8-298E1561324C}"/>
              </a:ext>
            </a:extLst>
          </p:cNvPr>
          <p:cNvSpPr>
            <a:spLocks noGrp="1"/>
          </p:cNvSpPr>
          <p:nvPr/>
        </p:nvSpPr>
        <p:spPr>
          <a:xfrm>
            <a:off x="7734300" y="5153025"/>
            <a:ext cx="342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Calendar and registration management for Admin, Director and Deputy Director.</a:t>
            </a:r>
          </a:p>
        </p:txBody>
      </p:sp>
    </p:spTree>
    <p:extLst>
      <p:ext uri="{BB962C8B-B14F-4D97-AF65-F5344CB8AC3E}">
        <p14:creationId xmlns:p14="http://schemas.microsoft.com/office/powerpoint/2010/main" val="279484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9EB"/>
            </a:gs>
            <a:gs pos="62000">
              <a:srgbClr val="FFE8BD"/>
            </a:gs>
            <a:gs pos="100000">
              <a:srgbClr val="FFD3C6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7795E044-6FCE-4129-9D5D-1CA4DCC8C6AA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System/Workflow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994347-2303-4764-BB82-B3100F9E4A30}"/>
              </a:ext>
            </a:extLst>
          </p:cNvPr>
          <p:cNvSpPr>
            <a:spLocks noGrp="1"/>
          </p:cNvSpPr>
          <p:nvPr/>
        </p:nvSpPr>
        <p:spPr>
          <a:xfrm>
            <a:off x="628650" y="866775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Seven steps connect account access, campus participation, proposals and administration.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1B013-03E4-47F5-83F7-16FA47157195}"/>
              </a:ext>
            </a:extLst>
          </p:cNvPr>
          <p:cNvSpPr>
            <a:spLocks noGrp="1"/>
          </p:cNvSpPr>
          <p:nvPr/>
        </p:nvSpPr>
        <p:spPr>
          <a:xfrm>
            <a:off x="10382250" y="647700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06 / 12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3BC878-C0A6-4FE8-8A7D-B79DF66AE71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561975"/>
          </a:xfrm>
          <a:prstGeom prst="roundRect">
            <a:avLst>
              <a:gd name="adj" fmla="val 13559"/>
            </a:avLst>
          </a:prstGeom>
          <a:solidFill>
            <a:srgbClr val="FFF9EF"/>
          </a:solidFill>
          <a:ln w="10954">
            <a:solidFill>
              <a:srgbClr val="D9C7AB"/>
            </a:solidFill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4C66C5-6348-41AE-B2EB-90AD0031DA81}"/>
              </a:ext>
            </a:extLst>
          </p:cNvPr>
          <p:cNvSpPr>
            <a:spLocks noGrp="1"/>
          </p:cNvSpPr>
          <p:nvPr/>
        </p:nvSpPr>
        <p:spPr>
          <a:xfrm>
            <a:off x="742950" y="1466850"/>
            <a:ext cx="428625" cy="390525"/>
          </a:xfrm>
          <a:prstGeom prst="roundRect">
            <a:avLst>
              <a:gd name="adj" fmla="val 19512"/>
            </a:avLst>
          </a:prstGeom>
          <a:solidFill>
            <a:srgbClr val="2D1709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CF4E2C-5DF2-4163-A3EE-705BA8DED5F1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B83F66-5403-418B-9C65-43226B7281E5}"/>
              </a:ext>
            </a:extLst>
          </p:cNvPr>
          <p:cNvSpPr>
            <a:spLocks noGrp="1"/>
          </p:cNvSpPr>
          <p:nvPr/>
        </p:nvSpPr>
        <p:spPr>
          <a:xfrm>
            <a:off x="1381125" y="1466850"/>
            <a:ext cx="25717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ACCOUNT + PROFILE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48FA7FD5-69C9-4A35-90C1-A06A78147296}"/>
              </a:ext>
            </a:extLst>
          </p:cNvPr>
          <p:cNvSpPr>
            <a:spLocks noGrp="1"/>
          </p:cNvSpPr>
          <p:nvPr/>
        </p:nvSpPr>
        <p:spPr>
          <a:xfrm>
            <a:off x="3971925" y="1485900"/>
            <a:ext cx="0" cy="352425"/>
          </a:xfrm>
          <a:prstGeom prst="line">
            <a:avLst/>
          </a:prstGeom>
          <a:noFill/>
          <a:ln w="9525">
            <a:solidFill>
              <a:srgbClr val="D9C7AB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2652C4-A03C-4440-AD3D-528629267F8D}"/>
              </a:ext>
            </a:extLst>
          </p:cNvPr>
          <p:cNvSpPr>
            <a:spLocks noGrp="1"/>
          </p:cNvSpPr>
          <p:nvPr/>
        </p:nvSpPr>
        <p:spPr>
          <a:xfrm>
            <a:off x="4171950" y="1447800"/>
            <a:ext cx="7124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Users create an account, sign in, and complete their profile.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A63E33-B75F-4B92-B1BE-91DA5909DEB3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10972800" cy="561975"/>
          </a:xfrm>
          <a:prstGeom prst="roundRect">
            <a:avLst>
              <a:gd name="adj" fmla="val 13559"/>
            </a:avLst>
          </a:prstGeom>
          <a:solidFill>
            <a:srgbClr val="FFFDF7"/>
          </a:solidFill>
          <a:ln w="10954">
            <a:solidFill>
              <a:srgbClr val="D9C7AB"/>
            </a:solidFill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EA6578-AD80-4139-AD39-E102F2755A2F}"/>
              </a:ext>
            </a:extLst>
          </p:cNvPr>
          <p:cNvSpPr>
            <a:spLocks noGrp="1"/>
          </p:cNvSpPr>
          <p:nvPr/>
        </p:nvSpPr>
        <p:spPr>
          <a:xfrm>
            <a:off x="742950" y="2105025"/>
            <a:ext cx="428625" cy="390525"/>
          </a:xfrm>
          <a:prstGeom prst="roundRect">
            <a:avLst>
              <a:gd name="adj" fmla="val 19512"/>
            </a:avLst>
          </a:prstGeom>
          <a:solidFill>
            <a:srgbClr val="2D1709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F3CC43-6CB5-4B69-9631-5A44032CE26A}"/>
              </a:ext>
            </a:extLst>
          </p:cNvPr>
          <p:cNvSpPr>
            <a:spLocks noGrp="1"/>
          </p:cNvSpPr>
          <p:nvPr/>
        </p:nvSpPr>
        <p:spPr>
          <a:xfrm>
            <a:off x="781050" y="2143125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6A919B-05AD-425A-907E-4FCDAE8E2166}"/>
              </a:ext>
            </a:extLst>
          </p:cNvPr>
          <p:cNvSpPr>
            <a:spLocks noGrp="1"/>
          </p:cNvSpPr>
          <p:nvPr/>
        </p:nvSpPr>
        <p:spPr>
          <a:xfrm>
            <a:off x="1381125" y="2105025"/>
            <a:ext cx="25717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STAFF APPROVAL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F550B4B-AF35-4E67-9DE1-B62A98444DA7}"/>
              </a:ext>
            </a:extLst>
          </p:cNvPr>
          <p:cNvSpPr>
            <a:spLocks noGrp="1"/>
          </p:cNvSpPr>
          <p:nvPr/>
        </p:nvSpPr>
        <p:spPr>
          <a:xfrm>
            <a:off x="3971925" y="2124075"/>
            <a:ext cx="0" cy="352425"/>
          </a:xfrm>
          <a:prstGeom prst="line">
            <a:avLst/>
          </a:prstGeom>
          <a:noFill/>
          <a:ln w="9525">
            <a:solidFill>
              <a:srgbClr val="D9C7AB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7FFE5E-FBF9-4F0D-92F0-740D9979BDE2}"/>
              </a:ext>
            </a:extLst>
          </p:cNvPr>
          <p:cNvSpPr>
            <a:spLocks noGrp="1"/>
          </p:cNvSpPr>
          <p:nvPr/>
        </p:nvSpPr>
        <p:spPr>
          <a:xfrm>
            <a:off x="4171950" y="2085975"/>
            <a:ext cx="7124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Staff access is enabled after administrator approval.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8AE98C0-1601-4A5A-85A9-0522BE480BE9}"/>
              </a:ext>
            </a:extLst>
          </p:cNvPr>
          <p:cNvSpPr>
            <a:spLocks noGrp="1"/>
          </p:cNvSpPr>
          <p:nvPr/>
        </p:nvSpPr>
        <p:spPr>
          <a:xfrm>
            <a:off x="609600" y="2657475"/>
            <a:ext cx="10972800" cy="561975"/>
          </a:xfrm>
          <a:prstGeom prst="roundRect">
            <a:avLst>
              <a:gd name="adj" fmla="val 13559"/>
            </a:avLst>
          </a:prstGeom>
          <a:solidFill>
            <a:srgbClr val="FFF9EF"/>
          </a:solidFill>
          <a:ln w="10954">
            <a:solidFill>
              <a:srgbClr val="D9C7AB"/>
            </a:solidFill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C27523-6D8D-4533-9409-CB382AF2AD16}"/>
              </a:ext>
            </a:extLst>
          </p:cNvPr>
          <p:cNvSpPr>
            <a:spLocks noGrp="1"/>
          </p:cNvSpPr>
          <p:nvPr/>
        </p:nvSpPr>
        <p:spPr>
          <a:xfrm>
            <a:off x="742950" y="2743200"/>
            <a:ext cx="428625" cy="390525"/>
          </a:xfrm>
          <a:prstGeom prst="roundRect">
            <a:avLst>
              <a:gd name="adj" fmla="val 19512"/>
            </a:avLst>
          </a:prstGeom>
          <a:solidFill>
            <a:srgbClr val="2D1709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13977F-2E8F-4A2D-90C0-6BC023B10E80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01BC2C-BC6A-4277-834D-C463DF54DF26}"/>
              </a:ext>
            </a:extLst>
          </p:cNvPr>
          <p:cNvSpPr>
            <a:spLocks noGrp="1"/>
          </p:cNvSpPr>
          <p:nvPr/>
        </p:nvSpPr>
        <p:spPr>
          <a:xfrm>
            <a:off x="1381125" y="2743200"/>
            <a:ext cx="25717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DISCOVER + REGISTER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75467AD-CCE5-439B-AB29-DD978D39383C}"/>
              </a:ext>
            </a:extLst>
          </p:cNvPr>
          <p:cNvSpPr>
            <a:spLocks noGrp="1"/>
          </p:cNvSpPr>
          <p:nvPr/>
        </p:nvSpPr>
        <p:spPr>
          <a:xfrm>
            <a:off x="3971925" y="2762250"/>
            <a:ext cx="0" cy="352425"/>
          </a:xfrm>
          <a:prstGeom prst="line">
            <a:avLst/>
          </a:prstGeom>
          <a:noFill/>
          <a:ln w="9525">
            <a:solidFill>
              <a:srgbClr val="D9C7AB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9C5DD6-A90F-477E-8174-55069BF52705}"/>
              </a:ext>
            </a:extLst>
          </p:cNvPr>
          <p:cNvSpPr>
            <a:spLocks noGrp="1"/>
          </p:cNvSpPr>
          <p:nvPr/>
        </p:nvSpPr>
        <p:spPr>
          <a:xfrm>
            <a:off x="4171950" y="2724150"/>
            <a:ext cx="7124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Users browse events or competitions and register when eligible.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0B5A7BF-978F-4CCC-999C-A5A1BDF3A3D7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10972800" cy="561975"/>
          </a:xfrm>
          <a:prstGeom prst="roundRect">
            <a:avLst>
              <a:gd name="adj" fmla="val 13559"/>
            </a:avLst>
          </a:prstGeom>
          <a:solidFill>
            <a:srgbClr val="FFFDF7"/>
          </a:solidFill>
          <a:ln w="10954">
            <a:solidFill>
              <a:srgbClr val="D9C7AB"/>
            </a:solidFill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53A3532-99C0-4195-9E5A-4ACAA0272372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428625" cy="390525"/>
          </a:xfrm>
          <a:prstGeom prst="roundRect">
            <a:avLst>
              <a:gd name="adj" fmla="val 19512"/>
            </a:avLst>
          </a:prstGeom>
          <a:solidFill>
            <a:srgbClr val="2D1709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A3021B-8A98-4F73-B79F-0A21BAB759D1}"/>
              </a:ext>
            </a:extLst>
          </p:cNvPr>
          <p:cNvSpPr>
            <a:spLocks noGrp="1"/>
          </p:cNvSpPr>
          <p:nvPr/>
        </p:nvSpPr>
        <p:spPr>
          <a:xfrm>
            <a:off x="781050" y="3419475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B983CF-0E4C-474A-BB22-1658CA747894}"/>
              </a:ext>
            </a:extLst>
          </p:cNvPr>
          <p:cNvSpPr>
            <a:spLocks noGrp="1"/>
          </p:cNvSpPr>
          <p:nvPr/>
        </p:nvSpPr>
        <p:spPr>
          <a:xfrm>
            <a:off x="1381125" y="3381375"/>
            <a:ext cx="25717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SUBMIT + TRACK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2DC36145-0AEF-47D8-9EA4-CFF1C44D889F}"/>
              </a:ext>
            </a:extLst>
          </p:cNvPr>
          <p:cNvSpPr>
            <a:spLocks noGrp="1"/>
          </p:cNvSpPr>
          <p:nvPr/>
        </p:nvSpPr>
        <p:spPr>
          <a:xfrm>
            <a:off x="3971925" y="3400425"/>
            <a:ext cx="0" cy="352425"/>
          </a:xfrm>
          <a:prstGeom prst="line">
            <a:avLst/>
          </a:prstGeom>
          <a:noFill/>
          <a:ln w="9525">
            <a:solidFill>
              <a:srgbClr val="D9C7AB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BCFAB9-CF1B-4A6C-AD64-734A115913DD}"/>
              </a:ext>
            </a:extLst>
          </p:cNvPr>
          <p:cNvSpPr>
            <a:spLocks noGrp="1"/>
          </p:cNvSpPr>
          <p:nvPr/>
        </p:nvSpPr>
        <p:spPr>
          <a:xfrm>
            <a:off x="4171950" y="3362325"/>
            <a:ext cx="7124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Students submit event proposals and can view review feedback.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8E5B493-3BF2-49B8-85AE-36393D35B63B}"/>
              </a:ext>
            </a:extLst>
          </p:cNvPr>
          <p:cNvSpPr>
            <a:spLocks noGrp="1"/>
          </p:cNvSpPr>
          <p:nvPr/>
        </p:nvSpPr>
        <p:spPr>
          <a:xfrm>
            <a:off x="609600" y="3933825"/>
            <a:ext cx="10972800" cy="561975"/>
          </a:xfrm>
          <a:prstGeom prst="roundRect">
            <a:avLst>
              <a:gd name="adj" fmla="val 13559"/>
            </a:avLst>
          </a:prstGeom>
          <a:solidFill>
            <a:srgbClr val="FFFDF7"/>
          </a:solidFill>
          <a:ln w="10954">
            <a:solidFill>
              <a:srgbClr val="D9C7AB"/>
            </a:solidFill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ED6C167-0935-411C-A8B0-3FF030EFBC60}"/>
              </a:ext>
            </a:extLst>
          </p:cNvPr>
          <p:cNvSpPr>
            <a:spLocks noGrp="1"/>
          </p:cNvSpPr>
          <p:nvPr/>
        </p:nvSpPr>
        <p:spPr>
          <a:xfrm>
            <a:off x="742950" y="4019550"/>
            <a:ext cx="428625" cy="390525"/>
          </a:xfrm>
          <a:prstGeom prst="roundRect">
            <a:avLst>
              <a:gd name="adj" fmla="val 19512"/>
            </a:avLst>
          </a:prstGeom>
          <a:solidFill>
            <a:schemeClr val="tx1">
              <a:lumMod val="95000"/>
              <a:lumOff val="5000"/>
            </a:schemeClr>
          </a:solidFill>
          <a:ln w="0">
            <a:noFill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9FDD88-3B77-47FB-AB14-A1A2763FB61A}"/>
              </a:ext>
            </a:extLst>
          </p:cNvPr>
          <p:cNvSpPr>
            <a:spLocks noGrp="1"/>
          </p:cNvSpPr>
          <p:nvPr/>
        </p:nvSpPr>
        <p:spPr>
          <a:xfrm>
            <a:off x="781050" y="40576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05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E1F8B3-0C53-406C-95F4-96225FB34B66}"/>
              </a:ext>
            </a:extLst>
          </p:cNvPr>
          <p:cNvSpPr>
            <a:spLocks noGrp="1"/>
          </p:cNvSpPr>
          <p:nvPr/>
        </p:nvSpPr>
        <p:spPr>
          <a:xfrm>
            <a:off x="1381125" y="4019550"/>
            <a:ext cx="25717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REVISE + RESUBMIT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7349B3B4-4635-4B0A-B101-BD8FD407CDE6}"/>
              </a:ext>
            </a:extLst>
          </p:cNvPr>
          <p:cNvSpPr>
            <a:spLocks noGrp="1"/>
          </p:cNvSpPr>
          <p:nvPr/>
        </p:nvSpPr>
        <p:spPr>
          <a:xfrm>
            <a:off x="3971925" y="4038600"/>
            <a:ext cx="0" cy="352425"/>
          </a:xfrm>
          <a:prstGeom prst="line">
            <a:avLst/>
          </a:prstGeom>
          <a:noFill/>
          <a:ln w="9525">
            <a:solidFill>
              <a:srgbClr val="D9C7AB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539D73-E679-4A59-B386-63A7A468F0FE}"/>
              </a:ext>
            </a:extLst>
          </p:cNvPr>
          <p:cNvSpPr>
            <a:spLocks noGrp="1"/>
          </p:cNvSpPr>
          <p:nvPr/>
        </p:nvSpPr>
        <p:spPr>
          <a:xfrm>
            <a:off x="4171950" y="4000500"/>
            <a:ext cx="7124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If changes are requested, the student updates and resubmits the proposal.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C437958-6937-4F65-A263-1377F516A3CF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561975"/>
          </a:xfrm>
          <a:prstGeom prst="roundRect">
            <a:avLst>
              <a:gd name="adj" fmla="val 13559"/>
            </a:avLst>
          </a:prstGeom>
          <a:solidFill>
            <a:srgbClr val="FFFDF7"/>
          </a:solidFill>
          <a:ln w="10954">
            <a:solidFill>
              <a:srgbClr val="D9C7AB"/>
            </a:solidFill>
          </a:ln>
        </p:spPr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0773456-B585-40F9-B5C7-8C52322D68D7}"/>
              </a:ext>
            </a:extLst>
          </p:cNvPr>
          <p:cNvSpPr>
            <a:spLocks noGrp="1"/>
          </p:cNvSpPr>
          <p:nvPr/>
        </p:nvSpPr>
        <p:spPr>
          <a:xfrm>
            <a:off x="742950" y="4657725"/>
            <a:ext cx="428625" cy="390525"/>
          </a:xfrm>
          <a:prstGeom prst="roundRect">
            <a:avLst>
              <a:gd name="adj" fmla="val 19512"/>
            </a:avLst>
          </a:prstGeom>
          <a:solidFill>
            <a:srgbClr val="2D1709"/>
          </a:solidFill>
          <a:ln w="0">
            <a:noFill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24DDBDB-E419-4623-B050-AF15D74BFF4B}"/>
              </a:ext>
            </a:extLst>
          </p:cNvPr>
          <p:cNvSpPr>
            <a:spLocks noGrp="1"/>
          </p:cNvSpPr>
          <p:nvPr/>
        </p:nvSpPr>
        <p:spPr>
          <a:xfrm>
            <a:off x="781050" y="4695825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06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2273EE5-0029-4F10-906C-FDFD7235F4FF}"/>
              </a:ext>
            </a:extLst>
          </p:cNvPr>
          <p:cNvSpPr>
            <a:spLocks noGrp="1"/>
          </p:cNvSpPr>
          <p:nvPr/>
        </p:nvSpPr>
        <p:spPr>
          <a:xfrm>
            <a:off x="1381125" y="4657725"/>
            <a:ext cx="25717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APPROVE + PREPARE</a:t>
            </a:r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D951964B-59C6-43F9-9C5D-C5CDA6717F9D}"/>
              </a:ext>
            </a:extLst>
          </p:cNvPr>
          <p:cNvSpPr>
            <a:spLocks noGrp="1"/>
          </p:cNvSpPr>
          <p:nvPr/>
        </p:nvSpPr>
        <p:spPr>
          <a:xfrm>
            <a:off x="3971925" y="4676775"/>
            <a:ext cx="0" cy="352425"/>
          </a:xfrm>
          <a:prstGeom prst="line">
            <a:avLst/>
          </a:prstGeom>
          <a:noFill/>
          <a:ln w="9525">
            <a:solidFill>
              <a:srgbClr val="D9C7AB"/>
            </a:solidFill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A07CF47-4D81-426B-9A63-63ED102B232F}"/>
              </a:ext>
            </a:extLst>
          </p:cNvPr>
          <p:cNvSpPr>
            <a:spLocks noGrp="1"/>
          </p:cNvSpPr>
          <p:nvPr/>
        </p:nvSpPr>
        <p:spPr>
          <a:xfrm>
            <a:off x="4171950" y="4638675"/>
            <a:ext cx="7124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After approval, the event is prepared for publication by an administrator.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B92C4CB-9400-4E51-82AA-29980914C9F7}"/>
              </a:ext>
            </a:extLst>
          </p:cNvPr>
          <p:cNvSpPr>
            <a:spLocks noGrp="1"/>
          </p:cNvSpPr>
          <p:nvPr/>
        </p:nvSpPr>
        <p:spPr>
          <a:xfrm>
            <a:off x="609600" y="5210175"/>
            <a:ext cx="10972800" cy="561975"/>
          </a:xfrm>
          <a:prstGeom prst="roundRect">
            <a:avLst>
              <a:gd name="adj" fmla="val 13559"/>
            </a:avLst>
          </a:prstGeom>
          <a:solidFill>
            <a:srgbClr val="FFF9EF"/>
          </a:solidFill>
          <a:ln w="10954">
            <a:solidFill>
              <a:srgbClr val="D9C7AB"/>
            </a:solidFill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2539CEB-DD39-4997-A4F4-FE7662B499FD}"/>
              </a:ext>
            </a:extLst>
          </p:cNvPr>
          <p:cNvSpPr>
            <a:spLocks noGrp="1"/>
          </p:cNvSpPr>
          <p:nvPr/>
        </p:nvSpPr>
        <p:spPr>
          <a:xfrm>
            <a:off x="742950" y="5295900"/>
            <a:ext cx="428625" cy="390525"/>
          </a:xfrm>
          <a:prstGeom prst="roundRect">
            <a:avLst>
              <a:gd name="adj" fmla="val 19512"/>
            </a:avLst>
          </a:prstGeom>
          <a:solidFill>
            <a:srgbClr val="2D1709"/>
          </a:solidFill>
          <a:ln w="0">
            <a:noFill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14BF4FB-F0D6-479E-AC60-63AA7784236A}"/>
              </a:ext>
            </a:extLst>
          </p:cNvPr>
          <p:cNvSpPr>
            <a:spLocks noGrp="1"/>
          </p:cNvSpPr>
          <p:nvPr/>
        </p:nvSpPr>
        <p:spPr>
          <a:xfrm>
            <a:off x="781050" y="53340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07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634EB99-8CFF-40DA-A10B-F21A1DC21AA5}"/>
              </a:ext>
            </a:extLst>
          </p:cNvPr>
          <p:cNvSpPr>
            <a:spLocks noGrp="1"/>
          </p:cNvSpPr>
          <p:nvPr/>
        </p:nvSpPr>
        <p:spPr>
          <a:xfrm>
            <a:off x="1381125" y="5295900"/>
            <a:ext cx="25717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ADMINISTER</a:t>
            </a:r>
          </a:p>
        </p:txBody>
      </p:sp>
      <p:sp>
        <p:nvSpPr>
          <p:cNvPr id="44" name="Straight Connector 43">
            <a:extLst>
              <a:ext uri="{FF2B5EF4-FFF2-40B4-BE49-F238E27FC236}">
                <a16:creationId xmlns:a16="http://schemas.microsoft.com/office/drawing/2014/main" id="{4AFC071A-1F66-484F-BC00-066EB0CACAF4}"/>
              </a:ext>
            </a:extLst>
          </p:cNvPr>
          <p:cNvSpPr>
            <a:spLocks noGrp="1"/>
          </p:cNvSpPr>
          <p:nvPr/>
        </p:nvSpPr>
        <p:spPr>
          <a:xfrm>
            <a:off x="3971925" y="5314950"/>
            <a:ext cx="0" cy="352425"/>
          </a:xfrm>
          <a:prstGeom prst="line">
            <a:avLst/>
          </a:prstGeom>
          <a:noFill/>
          <a:ln w="9525">
            <a:solidFill>
              <a:srgbClr val="D9C7AB"/>
            </a:solidFill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E5844C7-C49F-4FA1-8152-2E8F964828D0}"/>
              </a:ext>
            </a:extLst>
          </p:cNvPr>
          <p:cNvSpPr>
            <a:spLocks noGrp="1"/>
          </p:cNvSpPr>
          <p:nvPr/>
        </p:nvSpPr>
        <p:spPr>
          <a:xfrm>
            <a:off x="4171950" y="5276850"/>
            <a:ext cx="7124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Administrators manage users, content, registrations, and review tasks.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C294E55-F745-41D6-8B03-29BED32087EB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342900"/>
          </a:xfrm>
          <a:prstGeom prst="roundRect">
            <a:avLst>
              <a:gd name="adj" fmla="val 22222"/>
            </a:avLst>
          </a:prstGeom>
          <a:solidFill>
            <a:srgbClr val="2D1709"/>
          </a:solidFill>
          <a:ln w="9525">
            <a:solidFill>
              <a:srgbClr val="2D1709"/>
            </a:solidFill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0ECD1DA-04CC-4BB8-8DE5-1D7E54586B00}"/>
              </a:ext>
            </a:extLst>
          </p:cNvPr>
          <p:cNvSpPr>
            <a:spLocks noGrp="1"/>
          </p:cNvSpPr>
          <p:nvPr/>
        </p:nvSpPr>
        <p:spPr>
          <a:xfrm>
            <a:off x="781050" y="5934075"/>
            <a:ext cx="10610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Step 5 applies only when reviewers request changes; resubmission returns the proposal to review.</a:t>
            </a:r>
          </a:p>
        </p:txBody>
      </p:sp>
    </p:spTree>
    <p:extLst>
      <p:ext uri="{BB962C8B-B14F-4D97-AF65-F5344CB8AC3E}">
        <p14:creationId xmlns:p14="http://schemas.microsoft.com/office/powerpoint/2010/main" val="1149979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9EB"/>
            </a:gs>
            <a:gs pos="62000">
              <a:srgbClr val="FFE8BD"/>
            </a:gs>
            <a:gs pos="100000">
              <a:srgbClr val="FFD3C6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4ACFBF00-5DF3-42BD-A9EA-9F8DFC156DB0}"/>
              </a:ext>
            </a:extLst>
          </p:cNvPr>
          <p:cNvSpPr>
            <a:spLocks noGrp="1"/>
          </p:cNvSpPr>
          <p:nvPr/>
        </p:nvSpPr>
        <p:spPr>
          <a:xfrm>
            <a:off x="609600" y="363442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User Workflows — Participation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92A42A-9AA3-443A-8593-A0135AC8EE2F}"/>
              </a:ext>
            </a:extLst>
          </p:cNvPr>
          <p:cNvSpPr>
            <a:spLocks noGrp="1"/>
          </p:cNvSpPr>
          <p:nvPr/>
        </p:nvSpPr>
        <p:spPr>
          <a:xfrm>
            <a:off x="628650" y="866775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Student, club member, club head and faculty · role workflows 1 of 2.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D669D8-B1C4-4A70-ACFF-51B34516BE2B}"/>
              </a:ext>
            </a:extLst>
          </p:cNvPr>
          <p:cNvSpPr>
            <a:spLocks noGrp="1"/>
          </p:cNvSpPr>
          <p:nvPr/>
        </p:nvSpPr>
        <p:spPr>
          <a:xfrm>
            <a:off x="10382250" y="647700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07 / 12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5F1144-9C6E-4AAD-B6EC-684902CC6569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866775"/>
          </a:xfrm>
          <a:prstGeom prst="roundRect">
            <a:avLst>
              <a:gd name="adj" fmla="val 8791"/>
            </a:avLst>
          </a:prstGeom>
          <a:solidFill>
            <a:srgbClr val="FFF9EF"/>
          </a:solidFill>
          <a:ln w="11430">
            <a:solidFill>
              <a:srgbClr val="D9C7AB"/>
            </a:solidFill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4F24C2-02C1-4DAE-9D62-CF78561F98BC}"/>
              </a:ext>
            </a:extLst>
          </p:cNvPr>
          <p:cNvSpPr>
            <a:spLocks noGrp="1"/>
          </p:cNvSpPr>
          <p:nvPr/>
        </p:nvSpPr>
        <p:spPr>
          <a:xfrm>
            <a:off x="762000" y="1666875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4C9B8C-8B44-42D2-8685-1FDEFDE6B7F2}"/>
              </a:ext>
            </a:extLst>
          </p:cNvPr>
          <p:cNvSpPr>
            <a:spLocks noGrp="1"/>
          </p:cNvSpPr>
          <p:nvPr/>
        </p:nvSpPr>
        <p:spPr>
          <a:xfrm>
            <a:off x="1162050" y="1657350"/>
            <a:ext cx="14001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STUDENT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59FB8C-B1CC-4E22-B264-FDB080E65A36}"/>
              </a:ext>
            </a:extLst>
          </p:cNvPr>
          <p:cNvSpPr>
            <a:spLocks noGrp="1"/>
          </p:cNvSpPr>
          <p:nvPr/>
        </p:nvSpPr>
        <p:spPr>
          <a:xfrm>
            <a:off x="2686050" y="17145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 dirty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Create profile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94258B8E-BB73-4ABE-8607-1CD16B882C8E}"/>
              </a:ext>
            </a:extLst>
          </p:cNvPr>
          <p:cNvSpPr>
            <a:spLocks noGrp="1"/>
          </p:cNvSpPr>
          <p:nvPr/>
        </p:nvSpPr>
        <p:spPr>
          <a:xfrm>
            <a:off x="4600575" y="19812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C3E00C7E-BC88-4908-BCA1-01E55B7E8DB2}"/>
              </a:ext>
            </a:extLst>
          </p:cNvPr>
          <p:cNvSpPr>
            <a:spLocks noGrp="1"/>
          </p:cNvSpPr>
          <p:nvPr/>
        </p:nvSpPr>
        <p:spPr>
          <a:xfrm>
            <a:off x="4714875" y="19335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BC93BE0-F8D9-49D9-906A-1416C76FB898}"/>
              </a:ext>
            </a:extLst>
          </p:cNvPr>
          <p:cNvSpPr>
            <a:spLocks noGrp="1"/>
          </p:cNvSpPr>
          <p:nvPr/>
        </p:nvSpPr>
        <p:spPr>
          <a:xfrm>
            <a:off x="4838700" y="17145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Sign in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4B58539-0865-46BF-BEE5-773D3A1AF438}"/>
              </a:ext>
            </a:extLst>
          </p:cNvPr>
          <p:cNvSpPr>
            <a:spLocks noGrp="1"/>
          </p:cNvSpPr>
          <p:nvPr/>
        </p:nvSpPr>
        <p:spPr>
          <a:xfrm>
            <a:off x="6753225" y="19812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15E1D3E1-040B-4686-9103-CD6AE0294637}"/>
              </a:ext>
            </a:extLst>
          </p:cNvPr>
          <p:cNvSpPr>
            <a:spLocks noGrp="1"/>
          </p:cNvSpPr>
          <p:nvPr/>
        </p:nvSpPr>
        <p:spPr>
          <a:xfrm>
            <a:off x="6867525" y="19335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C3564D9-1F36-4656-A435-CAA67A80AC86}"/>
              </a:ext>
            </a:extLst>
          </p:cNvPr>
          <p:cNvSpPr>
            <a:spLocks noGrp="1"/>
          </p:cNvSpPr>
          <p:nvPr/>
        </p:nvSpPr>
        <p:spPr>
          <a:xfrm>
            <a:off x="6991350" y="17145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Find + filter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7322B358-3847-4BAC-84E7-6F4DD12D7482}"/>
              </a:ext>
            </a:extLst>
          </p:cNvPr>
          <p:cNvSpPr>
            <a:spLocks noGrp="1"/>
          </p:cNvSpPr>
          <p:nvPr/>
        </p:nvSpPr>
        <p:spPr>
          <a:xfrm>
            <a:off x="8905875" y="19812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0151F89-EC9E-432E-81D9-93B7B799FA87}"/>
              </a:ext>
            </a:extLst>
          </p:cNvPr>
          <p:cNvSpPr>
            <a:spLocks noGrp="1"/>
          </p:cNvSpPr>
          <p:nvPr/>
        </p:nvSpPr>
        <p:spPr>
          <a:xfrm>
            <a:off x="9020175" y="19335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6CFE433-C26A-46D3-9B22-5B3BF84EE0F5}"/>
              </a:ext>
            </a:extLst>
          </p:cNvPr>
          <p:cNvSpPr>
            <a:spLocks noGrp="1"/>
          </p:cNvSpPr>
          <p:nvPr/>
        </p:nvSpPr>
        <p:spPr>
          <a:xfrm>
            <a:off x="9144000" y="17145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E8BD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1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Register / cancel / track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59F6D57-E9B7-498E-88D4-A06059441ED2}"/>
              </a:ext>
            </a:extLst>
          </p:cNvPr>
          <p:cNvSpPr>
            <a:spLocks noGrp="1"/>
          </p:cNvSpPr>
          <p:nvPr/>
        </p:nvSpPr>
        <p:spPr>
          <a:xfrm>
            <a:off x="609600" y="2657475"/>
            <a:ext cx="10972800" cy="866775"/>
          </a:xfrm>
          <a:prstGeom prst="roundRect">
            <a:avLst>
              <a:gd name="adj" fmla="val 8791"/>
            </a:avLst>
          </a:prstGeom>
          <a:solidFill>
            <a:srgbClr val="FFFDF7"/>
          </a:solidFill>
          <a:ln w="11430">
            <a:solidFill>
              <a:srgbClr val="D9C7AB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CB9F79-3624-4DA1-A956-F79E8890CB7E}"/>
              </a:ext>
            </a:extLst>
          </p:cNvPr>
          <p:cNvSpPr>
            <a:spLocks noGrp="1"/>
          </p:cNvSpPr>
          <p:nvPr/>
        </p:nvSpPr>
        <p:spPr>
          <a:xfrm>
            <a:off x="762000" y="2771775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212741-81A2-4667-9374-11DF1FFF54F9}"/>
              </a:ext>
            </a:extLst>
          </p:cNvPr>
          <p:cNvSpPr>
            <a:spLocks noGrp="1"/>
          </p:cNvSpPr>
          <p:nvPr/>
        </p:nvSpPr>
        <p:spPr>
          <a:xfrm>
            <a:off x="1162050" y="2762250"/>
            <a:ext cx="14001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CLUB MEMBER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DD4D3C3-97C8-43B9-9186-44BC1F3BB85D}"/>
              </a:ext>
            </a:extLst>
          </p:cNvPr>
          <p:cNvSpPr>
            <a:spLocks noGrp="1"/>
          </p:cNvSpPr>
          <p:nvPr/>
        </p:nvSpPr>
        <p:spPr>
          <a:xfrm>
            <a:off x="2686050" y="28194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Apply to join club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5B4B6A34-13A2-41C2-9125-E96166DC4598}"/>
              </a:ext>
            </a:extLst>
          </p:cNvPr>
          <p:cNvSpPr>
            <a:spLocks noGrp="1"/>
          </p:cNvSpPr>
          <p:nvPr/>
        </p:nvSpPr>
        <p:spPr>
          <a:xfrm>
            <a:off x="4600575" y="30861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0B98841-1054-471B-9DA0-883516825501}"/>
              </a:ext>
            </a:extLst>
          </p:cNvPr>
          <p:cNvSpPr>
            <a:spLocks noGrp="1"/>
          </p:cNvSpPr>
          <p:nvPr/>
        </p:nvSpPr>
        <p:spPr>
          <a:xfrm>
            <a:off x="4714875" y="30384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56CE724-3449-4B6F-9AE0-B16264A2C6C1}"/>
              </a:ext>
            </a:extLst>
          </p:cNvPr>
          <p:cNvSpPr>
            <a:spLocks noGrp="1"/>
          </p:cNvSpPr>
          <p:nvPr/>
        </p:nvSpPr>
        <p:spPr>
          <a:xfrm>
            <a:off x="4838700" y="28194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Club Head reviews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92FFC329-ED27-4704-963C-FFD3958D3E3B}"/>
              </a:ext>
            </a:extLst>
          </p:cNvPr>
          <p:cNvSpPr>
            <a:spLocks noGrp="1"/>
          </p:cNvSpPr>
          <p:nvPr/>
        </p:nvSpPr>
        <p:spPr>
          <a:xfrm>
            <a:off x="6753225" y="30861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465D2451-9121-4311-81B9-94A724A908A6}"/>
              </a:ext>
            </a:extLst>
          </p:cNvPr>
          <p:cNvSpPr>
            <a:spLocks noGrp="1"/>
          </p:cNvSpPr>
          <p:nvPr/>
        </p:nvSpPr>
        <p:spPr>
          <a:xfrm>
            <a:off x="6867525" y="30384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4F02194-6ECB-49D0-95F5-8CB788E3EED4}"/>
              </a:ext>
            </a:extLst>
          </p:cNvPr>
          <p:cNvSpPr>
            <a:spLocks noGrp="1"/>
          </p:cNvSpPr>
          <p:nvPr/>
        </p:nvSpPr>
        <p:spPr>
          <a:xfrm>
            <a:off x="6991350" y="28194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Approved member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0A70F8C-C291-4AD7-AC65-AC9C87E45B41}"/>
              </a:ext>
            </a:extLst>
          </p:cNvPr>
          <p:cNvSpPr>
            <a:spLocks noGrp="1"/>
          </p:cNvSpPr>
          <p:nvPr/>
        </p:nvSpPr>
        <p:spPr>
          <a:xfrm>
            <a:off x="8905875" y="30861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7981C466-BB31-481E-88D2-5DEC7C80C3CC}"/>
              </a:ext>
            </a:extLst>
          </p:cNvPr>
          <p:cNvSpPr>
            <a:spLocks noGrp="1"/>
          </p:cNvSpPr>
          <p:nvPr/>
        </p:nvSpPr>
        <p:spPr>
          <a:xfrm>
            <a:off x="9020175" y="30384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97FB077-C397-49A4-A839-451C1A45C81E}"/>
              </a:ext>
            </a:extLst>
          </p:cNvPr>
          <p:cNvSpPr>
            <a:spLocks noGrp="1"/>
          </p:cNvSpPr>
          <p:nvPr/>
        </p:nvSpPr>
        <p:spPr>
          <a:xfrm>
            <a:off x="9144000" y="28194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E8BD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1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See club notices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7D5DDDE-9E09-4E66-9613-D533C17D3FBC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10972800" cy="866775"/>
          </a:xfrm>
          <a:prstGeom prst="roundRect">
            <a:avLst>
              <a:gd name="adj" fmla="val 8791"/>
            </a:avLst>
          </a:prstGeom>
          <a:solidFill>
            <a:srgbClr val="FFF9EF"/>
          </a:solidFill>
          <a:ln w="11430">
            <a:solidFill>
              <a:srgbClr val="D9C7AB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0304CC-66DD-4A84-993F-A0A1580A0DDE}"/>
              </a:ext>
            </a:extLst>
          </p:cNvPr>
          <p:cNvSpPr>
            <a:spLocks noGrp="1"/>
          </p:cNvSpPr>
          <p:nvPr/>
        </p:nvSpPr>
        <p:spPr>
          <a:xfrm>
            <a:off x="762000" y="3876675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9930D5-FBAC-4C49-A7F5-58D0614824E0}"/>
              </a:ext>
            </a:extLst>
          </p:cNvPr>
          <p:cNvSpPr>
            <a:spLocks noGrp="1"/>
          </p:cNvSpPr>
          <p:nvPr/>
        </p:nvSpPr>
        <p:spPr>
          <a:xfrm>
            <a:off x="1162050" y="3867150"/>
            <a:ext cx="14001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CLUB HEAD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6877756-CF35-4AF6-B634-FF4935208674}"/>
              </a:ext>
            </a:extLst>
          </p:cNvPr>
          <p:cNvSpPr>
            <a:spLocks noGrp="1"/>
          </p:cNvSpPr>
          <p:nvPr/>
        </p:nvSpPr>
        <p:spPr>
          <a:xfrm>
            <a:off x="2686050" y="39243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Admin approves account</a:t>
            </a:r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2A9BA1EB-0897-482B-A224-5C8BC8800472}"/>
              </a:ext>
            </a:extLst>
          </p:cNvPr>
          <p:cNvSpPr>
            <a:spLocks noGrp="1"/>
          </p:cNvSpPr>
          <p:nvPr/>
        </p:nvSpPr>
        <p:spPr>
          <a:xfrm>
            <a:off x="4600575" y="41910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6D83F760-669A-4390-98DB-AAF18D7AB38D}"/>
              </a:ext>
            </a:extLst>
          </p:cNvPr>
          <p:cNvSpPr>
            <a:spLocks noGrp="1"/>
          </p:cNvSpPr>
          <p:nvPr/>
        </p:nvSpPr>
        <p:spPr>
          <a:xfrm>
            <a:off x="4714875" y="41433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5FBF168-6C90-4872-BA8A-751058554539}"/>
              </a:ext>
            </a:extLst>
          </p:cNvPr>
          <p:cNvSpPr>
            <a:spLocks noGrp="1"/>
          </p:cNvSpPr>
          <p:nvPr/>
        </p:nvSpPr>
        <p:spPr>
          <a:xfrm>
            <a:off x="4838700" y="39243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Create club activities</a:t>
            </a:r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8476C993-945D-4FA8-B4FC-BD2F99767011}"/>
              </a:ext>
            </a:extLst>
          </p:cNvPr>
          <p:cNvSpPr>
            <a:spLocks noGrp="1"/>
          </p:cNvSpPr>
          <p:nvPr/>
        </p:nvSpPr>
        <p:spPr>
          <a:xfrm>
            <a:off x="6753225" y="41910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6E5A0C35-40F7-49F1-8E40-B8212507982A}"/>
              </a:ext>
            </a:extLst>
          </p:cNvPr>
          <p:cNvSpPr>
            <a:spLocks noGrp="1"/>
          </p:cNvSpPr>
          <p:nvPr/>
        </p:nvSpPr>
        <p:spPr>
          <a:xfrm>
            <a:off x="6867525" y="41433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6BF8687-9D76-4B09-A71B-4840F48785C8}"/>
              </a:ext>
            </a:extLst>
          </p:cNvPr>
          <p:cNvSpPr>
            <a:spLocks noGrp="1"/>
          </p:cNvSpPr>
          <p:nvPr/>
        </p:nvSpPr>
        <p:spPr>
          <a:xfrm>
            <a:off x="6991350" y="39243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Manage members</a:t>
            </a:r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0B658756-FD1D-489B-988B-17E9ED3FBE6A}"/>
              </a:ext>
            </a:extLst>
          </p:cNvPr>
          <p:cNvSpPr>
            <a:spLocks noGrp="1"/>
          </p:cNvSpPr>
          <p:nvPr/>
        </p:nvSpPr>
        <p:spPr>
          <a:xfrm>
            <a:off x="8905875" y="41910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8BDF0CBD-4C4D-48C2-B23A-68C7458D046B}"/>
              </a:ext>
            </a:extLst>
          </p:cNvPr>
          <p:cNvSpPr>
            <a:spLocks noGrp="1"/>
          </p:cNvSpPr>
          <p:nvPr/>
        </p:nvSpPr>
        <p:spPr>
          <a:xfrm>
            <a:off x="9020175" y="41433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7A2978-2DBD-416A-A94B-93E1FD24A453}"/>
              </a:ext>
            </a:extLst>
          </p:cNvPr>
          <p:cNvSpPr>
            <a:spLocks noGrp="1"/>
          </p:cNvSpPr>
          <p:nvPr/>
        </p:nvSpPr>
        <p:spPr>
          <a:xfrm>
            <a:off x="9144000" y="39243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E8BD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1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View participants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629C8EE-0D0A-443D-833B-A4D5FB2CE224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10972800" cy="866775"/>
          </a:xfrm>
          <a:prstGeom prst="roundRect">
            <a:avLst>
              <a:gd name="adj" fmla="val 8791"/>
            </a:avLst>
          </a:prstGeom>
          <a:solidFill>
            <a:srgbClr val="FFFDF7"/>
          </a:solidFill>
          <a:ln w="11430">
            <a:solidFill>
              <a:srgbClr val="D9C7AB"/>
            </a:solidFill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65CF0F1-142F-44C3-B57F-0D9606C4CB4A}"/>
              </a:ext>
            </a:extLst>
          </p:cNvPr>
          <p:cNvSpPr>
            <a:spLocks noGrp="1"/>
          </p:cNvSpPr>
          <p:nvPr/>
        </p:nvSpPr>
        <p:spPr>
          <a:xfrm>
            <a:off x="762000" y="4981575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553D2FB-EFF8-408B-965D-5C09756146EA}"/>
              </a:ext>
            </a:extLst>
          </p:cNvPr>
          <p:cNvSpPr>
            <a:spLocks noGrp="1"/>
          </p:cNvSpPr>
          <p:nvPr/>
        </p:nvSpPr>
        <p:spPr>
          <a:xfrm>
            <a:off x="1162050" y="4972050"/>
            <a:ext cx="14001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FACULTY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D1F8E3B-281F-46FF-A143-98F9F5D18758}"/>
              </a:ext>
            </a:extLst>
          </p:cNvPr>
          <p:cNvSpPr>
            <a:spLocks noGrp="1"/>
          </p:cNvSpPr>
          <p:nvPr/>
        </p:nvSpPr>
        <p:spPr>
          <a:xfrm>
            <a:off x="2686050" y="50292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Request faculty access</a:t>
            </a:r>
          </a:p>
        </p:txBody>
      </p:sp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19EA9BA0-EC46-486D-8557-4EC8D031D86C}"/>
              </a:ext>
            </a:extLst>
          </p:cNvPr>
          <p:cNvSpPr>
            <a:spLocks noGrp="1"/>
          </p:cNvSpPr>
          <p:nvPr/>
        </p:nvSpPr>
        <p:spPr>
          <a:xfrm>
            <a:off x="4600575" y="52959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472F83E7-39A1-44B8-9911-5E0805145B69}"/>
              </a:ext>
            </a:extLst>
          </p:cNvPr>
          <p:cNvSpPr>
            <a:spLocks noGrp="1"/>
          </p:cNvSpPr>
          <p:nvPr/>
        </p:nvSpPr>
        <p:spPr>
          <a:xfrm>
            <a:off x="4714875" y="52482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0F2A819-5897-409A-A3C4-FA3273C27E5F}"/>
              </a:ext>
            </a:extLst>
          </p:cNvPr>
          <p:cNvSpPr>
            <a:spLocks noGrp="1"/>
          </p:cNvSpPr>
          <p:nvPr/>
        </p:nvSpPr>
        <p:spPr>
          <a:xfrm>
            <a:off x="4838700" y="50292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Admin verifies + assigns</a:t>
            </a:r>
          </a:p>
        </p:txBody>
      </p:sp>
      <p:sp>
        <p:nvSpPr>
          <p:cNvPr id="50" name="Straight Connector 49">
            <a:extLst>
              <a:ext uri="{FF2B5EF4-FFF2-40B4-BE49-F238E27FC236}">
                <a16:creationId xmlns:a16="http://schemas.microsoft.com/office/drawing/2014/main" id="{61327BA8-D5D4-4FF9-B01F-037285AFA73E}"/>
              </a:ext>
            </a:extLst>
          </p:cNvPr>
          <p:cNvSpPr>
            <a:spLocks noGrp="1"/>
          </p:cNvSpPr>
          <p:nvPr/>
        </p:nvSpPr>
        <p:spPr>
          <a:xfrm>
            <a:off x="6753225" y="52959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93F5E20-5340-4226-9711-94BAF98DDB37}"/>
              </a:ext>
            </a:extLst>
          </p:cNvPr>
          <p:cNvSpPr>
            <a:spLocks noGrp="1"/>
          </p:cNvSpPr>
          <p:nvPr/>
        </p:nvSpPr>
        <p:spPr>
          <a:xfrm>
            <a:off x="6867525" y="52482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C3C55D0-2CCD-46B1-A2AC-A901B6FF1306}"/>
              </a:ext>
            </a:extLst>
          </p:cNvPr>
          <p:cNvSpPr>
            <a:spLocks noGrp="1"/>
          </p:cNvSpPr>
          <p:nvPr/>
        </p:nvSpPr>
        <p:spPr>
          <a:xfrm>
            <a:off x="6991350" y="50292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Create department event</a:t>
            </a:r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BD82223A-428C-4663-BCF4-3E839EDEA102}"/>
              </a:ext>
            </a:extLst>
          </p:cNvPr>
          <p:cNvSpPr>
            <a:spLocks noGrp="1"/>
          </p:cNvSpPr>
          <p:nvPr/>
        </p:nvSpPr>
        <p:spPr>
          <a:xfrm>
            <a:off x="8905875" y="52959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DB2C2A96-E22B-4E21-B77E-E031579E043D}"/>
              </a:ext>
            </a:extLst>
          </p:cNvPr>
          <p:cNvSpPr>
            <a:spLocks noGrp="1"/>
          </p:cNvSpPr>
          <p:nvPr/>
        </p:nvSpPr>
        <p:spPr>
          <a:xfrm>
            <a:off x="9020175" y="52482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8BAA361-E6B7-4662-940C-1FA5CA25D613}"/>
              </a:ext>
            </a:extLst>
          </p:cNvPr>
          <p:cNvSpPr>
            <a:spLocks noGrp="1"/>
          </p:cNvSpPr>
          <p:nvPr/>
        </p:nvSpPr>
        <p:spPr>
          <a:xfrm>
            <a:off x="9144000" y="50292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E8BD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1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1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Manage registrations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D0646FB-399E-451E-89FA-5C271DFFAC72}"/>
              </a:ext>
            </a:extLst>
          </p:cNvPr>
          <p:cNvSpPr>
            <a:spLocks noGrp="1"/>
          </p:cNvSpPr>
          <p:nvPr/>
        </p:nvSpPr>
        <p:spPr>
          <a:xfrm>
            <a:off x="695325" y="5953125"/>
            <a:ext cx="10401300" cy="333375"/>
          </a:xfrm>
          <a:prstGeom prst="roundRect">
            <a:avLst>
              <a:gd name="adj" fmla="val 22857"/>
            </a:avLst>
          </a:prstGeom>
          <a:solidFill>
            <a:srgbClr val="FFFDF7"/>
          </a:solidFill>
          <a:ln w="9525">
            <a:solidFill>
              <a:srgbClr val="D9C7AB"/>
            </a:solidFill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93FA628-B430-4FC4-AE90-230EEA93CCDF}"/>
              </a:ext>
            </a:extLst>
          </p:cNvPr>
          <p:cNvSpPr>
            <a:spLocks noGrp="1"/>
          </p:cNvSpPr>
          <p:nvPr/>
        </p:nvSpPr>
        <p:spPr>
          <a:xfrm>
            <a:off x="838200" y="5981700"/>
            <a:ext cx="100203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Member is approved student status. Students can track stories / proposals; requested changes return for edits.</a:t>
            </a:r>
          </a:p>
        </p:txBody>
      </p:sp>
    </p:spTree>
    <p:extLst>
      <p:ext uri="{BB962C8B-B14F-4D97-AF65-F5344CB8AC3E}">
        <p14:creationId xmlns:p14="http://schemas.microsoft.com/office/powerpoint/2010/main" val="1781166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9EB"/>
            </a:gs>
            <a:gs pos="62000">
              <a:srgbClr val="FFE8BD"/>
            </a:gs>
            <a:gs pos="100000">
              <a:srgbClr val="FFD3C6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6BD46B83-803E-4787-A90E-4A248942A342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User Workflows — Review &amp; Administration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EC6AC7-6276-4065-A009-7C2D645C908A}"/>
              </a:ext>
            </a:extLst>
          </p:cNvPr>
          <p:cNvSpPr>
            <a:spLocks noGrp="1"/>
          </p:cNvSpPr>
          <p:nvPr/>
        </p:nvSpPr>
        <p:spPr>
          <a:xfrm>
            <a:off x="628650" y="866775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Faculty Head, Admin and institute reviewers · role workflows 2 of 2.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AB513D-5CCD-4744-B286-96E9D440EC73}"/>
              </a:ext>
            </a:extLst>
          </p:cNvPr>
          <p:cNvSpPr>
            <a:spLocks noGrp="1"/>
          </p:cNvSpPr>
          <p:nvPr/>
        </p:nvSpPr>
        <p:spPr>
          <a:xfrm>
            <a:off x="10382250" y="647700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08 / 12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10EC5F-DA91-4320-88E0-D799F3505536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866775"/>
          </a:xfrm>
          <a:prstGeom prst="roundRect">
            <a:avLst>
              <a:gd name="adj" fmla="val 8791"/>
            </a:avLst>
          </a:prstGeom>
          <a:solidFill>
            <a:srgbClr val="FFF9EF"/>
          </a:solidFill>
          <a:ln w="11430">
            <a:solidFill>
              <a:srgbClr val="D9C7AB"/>
            </a:solidFill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303DFF-C191-4221-B561-8B69FD47EE37}"/>
              </a:ext>
            </a:extLst>
          </p:cNvPr>
          <p:cNvSpPr>
            <a:spLocks noGrp="1"/>
          </p:cNvSpPr>
          <p:nvPr/>
        </p:nvSpPr>
        <p:spPr>
          <a:xfrm>
            <a:off x="762000" y="1666875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12D5D4-DAC3-4BF4-8BBA-ABFBA0E7F805}"/>
              </a:ext>
            </a:extLst>
          </p:cNvPr>
          <p:cNvSpPr>
            <a:spLocks noGrp="1"/>
          </p:cNvSpPr>
          <p:nvPr/>
        </p:nvSpPr>
        <p:spPr>
          <a:xfrm>
            <a:off x="1162050" y="1657350"/>
            <a:ext cx="14001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FACULTY HEAD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F40AAF-541E-4A58-B81C-FE4F05FEC9AB}"/>
              </a:ext>
            </a:extLst>
          </p:cNvPr>
          <p:cNvSpPr>
            <a:spLocks noGrp="1"/>
          </p:cNvSpPr>
          <p:nvPr/>
        </p:nvSpPr>
        <p:spPr>
          <a:xfrm>
            <a:off x="2686050" y="17145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Assigned department queue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5BC4238A-CCFA-41C0-8E58-A8FE48FD3965}"/>
              </a:ext>
            </a:extLst>
          </p:cNvPr>
          <p:cNvSpPr>
            <a:spLocks noGrp="1"/>
          </p:cNvSpPr>
          <p:nvPr/>
        </p:nvSpPr>
        <p:spPr>
          <a:xfrm>
            <a:off x="4600575" y="19812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D4367FD5-DEFE-45FA-8590-E241A442616D}"/>
              </a:ext>
            </a:extLst>
          </p:cNvPr>
          <p:cNvSpPr>
            <a:spLocks noGrp="1"/>
          </p:cNvSpPr>
          <p:nvPr/>
        </p:nvSpPr>
        <p:spPr>
          <a:xfrm>
            <a:off x="4714875" y="19335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FA5105-0EBC-4592-AE5F-8AE3864D1625}"/>
              </a:ext>
            </a:extLst>
          </p:cNvPr>
          <p:cNvSpPr>
            <a:spLocks noGrp="1"/>
          </p:cNvSpPr>
          <p:nvPr/>
        </p:nvSpPr>
        <p:spPr>
          <a:xfrm>
            <a:off x="4838700" y="17145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Review proposal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7F7DDE4-B5B6-40E0-B126-057933118582}"/>
              </a:ext>
            </a:extLst>
          </p:cNvPr>
          <p:cNvSpPr>
            <a:spLocks noGrp="1"/>
          </p:cNvSpPr>
          <p:nvPr/>
        </p:nvSpPr>
        <p:spPr>
          <a:xfrm>
            <a:off x="6753225" y="19812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DA5AAC5F-9C29-4895-96A6-69FF1C3F4329}"/>
              </a:ext>
            </a:extLst>
          </p:cNvPr>
          <p:cNvSpPr>
            <a:spLocks noGrp="1"/>
          </p:cNvSpPr>
          <p:nvPr/>
        </p:nvSpPr>
        <p:spPr>
          <a:xfrm>
            <a:off x="6867525" y="19335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17D60BF-B6AF-4B0C-B018-B141DC984405}"/>
              </a:ext>
            </a:extLst>
          </p:cNvPr>
          <p:cNvSpPr>
            <a:spLocks noGrp="1"/>
          </p:cNvSpPr>
          <p:nvPr/>
        </p:nvSpPr>
        <p:spPr>
          <a:xfrm>
            <a:off x="6991350" y="17145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9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9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Approve / changes / reject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E9A122B-A958-4940-AF1A-CB6A6C589A9C}"/>
              </a:ext>
            </a:extLst>
          </p:cNvPr>
          <p:cNvSpPr>
            <a:spLocks noGrp="1"/>
          </p:cNvSpPr>
          <p:nvPr/>
        </p:nvSpPr>
        <p:spPr>
          <a:xfrm>
            <a:off x="8905875" y="19812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CD72978A-5E08-4462-A959-383995B18EB5}"/>
              </a:ext>
            </a:extLst>
          </p:cNvPr>
          <p:cNvSpPr>
            <a:spLocks noGrp="1"/>
          </p:cNvSpPr>
          <p:nvPr/>
        </p:nvSpPr>
        <p:spPr>
          <a:xfrm>
            <a:off x="9020175" y="19335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66A0DA9-1218-4568-A1A8-A13634DC123C}"/>
              </a:ext>
            </a:extLst>
          </p:cNvPr>
          <p:cNvSpPr>
            <a:spLocks noGrp="1"/>
          </p:cNvSpPr>
          <p:nvPr/>
        </p:nvSpPr>
        <p:spPr>
          <a:xfrm>
            <a:off x="9144000" y="17145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E8BD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Route to Admin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A2077B3-FFE3-40A5-B314-9C3A61A330D3}"/>
              </a:ext>
            </a:extLst>
          </p:cNvPr>
          <p:cNvSpPr>
            <a:spLocks noGrp="1"/>
          </p:cNvSpPr>
          <p:nvPr/>
        </p:nvSpPr>
        <p:spPr>
          <a:xfrm>
            <a:off x="609600" y="2657475"/>
            <a:ext cx="10972800" cy="866775"/>
          </a:xfrm>
          <a:prstGeom prst="roundRect">
            <a:avLst>
              <a:gd name="adj" fmla="val 8791"/>
            </a:avLst>
          </a:prstGeom>
          <a:solidFill>
            <a:srgbClr val="FFFDF7"/>
          </a:solidFill>
          <a:ln w="11430">
            <a:solidFill>
              <a:srgbClr val="D9C7AB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FA97FF-2548-4A29-9129-97BEE9662271}"/>
              </a:ext>
            </a:extLst>
          </p:cNvPr>
          <p:cNvSpPr>
            <a:spLocks noGrp="1"/>
          </p:cNvSpPr>
          <p:nvPr/>
        </p:nvSpPr>
        <p:spPr>
          <a:xfrm>
            <a:off x="762000" y="2771775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57D09C-011F-49BD-B643-014D156D77E9}"/>
              </a:ext>
            </a:extLst>
          </p:cNvPr>
          <p:cNvSpPr>
            <a:spLocks noGrp="1"/>
          </p:cNvSpPr>
          <p:nvPr/>
        </p:nvSpPr>
        <p:spPr>
          <a:xfrm>
            <a:off x="1162050" y="2762250"/>
            <a:ext cx="14001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ADMIN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C1163B5-38B1-4A70-B8AF-DB9837AEC485}"/>
              </a:ext>
            </a:extLst>
          </p:cNvPr>
          <p:cNvSpPr>
            <a:spLocks noGrp="1"/>
          </p:cNvSpPr>
          <p:nvPr/>
        </p:nvSpPr>
        <p:spPr>
          <a:xfrm>
            <a:off x="2686050" y="28194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Staff + proposal queue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6CBFD3B0-4275-4628-8A7C-0004B2884801}"/>
              </a:ext>
            </a:extLst>
          </p:cNvPr>
          <p:cNvSpPr>
            <a:spLocks noGrp="1"/>
          </p:cNvSpPr>
          <p:nvPr/>
        </p:nvSpPr>
        <p:spPr>
          <a:xfrm>
            <a:off x="4600575" y="30861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1F330FF4-4325-4890-9D71-08E24850CCF0}"/>
              </a:ext>
            </a:extLst>
          </p:cNvPr>
          <p:cNvSpPr>
            <a:spLocks noGrp="1"/>
          </p:cNvSpPr>
          <p:nvPr/>
        </p:nvSpPr>
        <p:spPr>
          <a:xfrm>
            <a:off x="4714875" y="30384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61E3646-90B6-4B2C-8B9E-2BEE432849D8}"/>
              </a:ext>
            </a:extLst>
          </p:cNvPr>
          <p:cNvSpPr>
            <a:spLocks noGrp="1"/>
          </p:cNvSpPr>
          <p:nvPr/>
        </p:nvSpPr>
        <p:spPr>
          <a:xfrm>
            <a:off x="4838700" y="28194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Verify route + scope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719F9A28-A658-41B7-B2C1-D89E56597F07}"/>
              </a:ext>
            </a:extLst>
          </p:cNvPr>
          <p:cNvSpPr>
            <a:spLocks noGrp="1"/>
          </p:cNvSpPr>
          <p:nvPr/>
        </p:nvSpPr>
        <p:spPr>
          <a:xfrm>
            <a:off x="6753225" y="30861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B715C513-1AEB-4F1C-8021-2019BA496278}"/>
              </a:ext>
            </a:extLst>
          </p:cNvPr>
          <p:cNvSpPr>
            <a:spLocks noGrp="1"/>
          </p:cNvSpPr>
          <p:nvPr/>
        </p:nvSpPr>
        <p:spPr>
          <a:xfrm>
            <a:off x="6867525" y="30384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C8A6537-9EDE-4006-88E1-BFA84C7FD672}"/>
              </a:ext>
            </a:extLst>
          </p:cNvPr>
          <p:cNvSpPr>
            <a:spLocks noGrp="1"/>
          </p:cNvSpPr>
          <p:nvPr/>
        </p:nvSpPr>
        <p:spPr>
          <a:xfrm>
            <a:off x="6991350" y="28194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9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9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Approve / changes / reject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4FEEC5C7-EE21-46BB-93ED-9119A00BEF91}"/>
              </a:ext>
            </a:extLst>
          </p:cNvPr>
          <p:cNvSpPr>
            <a:spLocks noGrp="1"/>
          </p:cNvSpPr>
          <p:nvPr/>
        </p:nvSpPr>
        <p:spPr>
          <a:xfrm>
            <a:off x="8905875" y="30861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F7A12A9-5B4E-47E2-8604-2A8DAC1977D5}"/>
              </a:ext>
            </a:extLst>
          </p:cNvPr>
          <p:cNvSpPr>
            <a:spLocks noGrp="1"/>
          </p:cNvSpPr>
          <p:nvPr/>
        </p:nvSpPr>
        <p:spPr>
          <a:xfrm>
            <a:off x="9020175" y="30384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06825EE-8CE5-4BF4-960F-EB39C89AB5C8}"/>
              </a:ext>
            </a:extLst>
          </p:cNvPr>
          <p:cNvSpPr>
            <a:spLocks noGrp="1"/>
          </p:cNvSpPr>
          <p:nvPr/>
        </p:nvSpPr>
        <p:spPr>
          <a:xfrm>
            <a:off x="9144000" y="28194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E8BD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Send to final reviewer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7448E0B-AB1C-4F89-AD93-E2384957AB50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10972800" cy="866775"/>
          </a:xfrm>
          <a:prstGeom prst="roundRect">
            <a:avLst>
              <a:gd name="adj" fmla="val 8791"/>
            </a:avLst>
          </a:prstGeom>
          <a:solidFill>
            <a:srgbClr val="FFF9EF"/>
          </a:solidFill>
          <a:ln w="11430">
            <a:solidFill>
              <a:srgbClr val="D9C7AB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E2848A-373B-46EC-A64D-33CE9805A22E}"/>
              </a:ext>
            </a:extLst>
          </p:cNvPr>
          <p:cNvSpPr>
            <a:spLocks noGrp="1"/>
          </p:cNvSpPr>
          <p:nvPr/>
        </p:nvSpPr>
        <p:spPr>
          <a:xfrm>
            <a:off x="762000" y="3876675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07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78FBABD-DB6E-4DA2-AC52-979FA7601474}"/>
              </a:ext>
            </a:extLst>
          </p:cNvPr>
          <p:cNvSpPr>
            <a:spLocks noGrp="1"/>
          </p:cNvSpPr>
          <p:nvPr/>
        </p:nvSpPr>
        <p:spPr>
          <a:xfrm>
            <a:off x="1162050" y="3867150"/>
            <a:ext cx="14001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DEPUTY DIRECTOR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C567328-7161-4071-BF8E-4CA00C330BD5}"/>
              </a:ext>
            </a:extLst>
          </p:cNvPr>
          <p:cNvSpPr>
            <a:spLocks noGrp="1"/>
          </p:cNvSpPr>
          <p:nvPr/>
        </p:nvSpPr>
        <p:spPr>
          <a:xfrm>
            <a:off x="2686050" y="39243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Assigned final queue</a:t>
            </a:r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5FDEFA45-C80B-423F-9E43-1539A5A36065}"/>
              </a:ext>
            </a:extLst>
          </p:cNvPr>
          <p:cNvSpPr>
            <a:spLocks noGrp="1"/>
          </p:cNvSpPr>
          <p:nvPr/>
        </p:nvSpPr>
        <p:spPr>
          <a:xfrm>
            <a:off x="4600575" y="41910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658E2EA4-236D-4B7B-8085-995F24C5BA40}"/>
              </a:ext>
            </a:extLst>
          </p:cNvPr>
          <p:cNvSpPr>
            <a:spLocks noGrp="1"/>
          </p:cNvSpPr>
          <p:nvPr/>
        </p:nvSpPr>
        <p:spPr>
          <a:xfrm>
            <a:off x="4714875" y="41433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B8F1F11-33CF-4A53-9806-A25922290FD7}"/>
              </a:ext>
            </a:extLst>
          </p:cNvPr>
          <p:cNvSpPr>
            <a:spLocks noGrp="1"/>
          </p:cNvSpPr>
          <p:nvPr/>
        </p:nvSpPr>
        <p:spPr>
          <a:xfrm>
            <a:off x="4838700" y="39243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Review proposal</a:t>
            </a:r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104FD6BF-A597-4916-9897-3048E58421B0}"/>
              </a:ext>
            </a:extLst>
          </p:cNvPr>
          <p:cNvSpPr>
            <a:spLocks noGrp="1"/>
          </p:cNvSpPr>
          <p:nvPr/>
        </p:nvSpPr>
        <p:spPr>
          <a:xfrm>
            <a:off x="6753225" y="41910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EFF22F8B-E278-48F3-937B-06197F0F277B}"/>
              </a:ext>
            </a:extLst>
          </p:cNvPr>
          <p:cNvSpPr>
            <a:spLocks noGrp="1"/>
          </p:cNvSpPr>
          <p:nvPr/>
        </p:nvSpPr>
        <p:spPr>
          <a:xfrm>
            <a:off x="6867525" y="41433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214B9D3-B835-4DF6-A934-FA75A3AF6C84}"/>
              </a:ext>
            </a:extLst>
          </p:cNvPr>
          <p:cNvSpPr>
            <a:spLocks noGrp="1"/>
          </p:cNvSpPr>
          <p:nvPr/>
        </p:nvSpPr>
        <p:spPr>
          <a:xfrm>
            <a:off x="6991350" y="39243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9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9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Approve / changes / reject</a:t>
            </a:r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5D079C30-EA7C-42C6-AE14-C984B18AABBA}"/>
              </a:ext>
            </a:extLst>
          </p:cNvPr>
          <p:cNvSpPr>
            <a:spLocks noGrp="1"/>
          </p:cNvSpPr>
          <p:nvPr/>
        </p:nvSpPr>
        <p:spPr>
          <a:xfrm>
            <a:off x="8905875" y="41910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308482B3-232E-4210-9BA0-35D402E7F82F}"/>
              </a:ext>
            </a:extLst>
          </p:cNvPr>
          <p:cNvSpPr>
            <a:spLocks noGrp="1"/>
          </p:cNvSpPr>
          <p:nvPr/>
        </p:nvSpPr>
        <p:spPr>
          <a:xfrm>
            <a:off x="9020175" y="41433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0DBF545-DB85-4CA2-8530-F5A10D7722A6}"/>
              </a:ext>
            </a:extLst>
          </p:cNvPr>
          <p:cNvSpPr>
            <a:spLocks noGrp="1"/>
          </p:cNvSpPr>
          <p:nvPr/>
        </p:nvSpPr>
        <p:spPr>
          <a:xfrm>
            <a:off x="9144000" y="39243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E8BD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Admin prepares event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153C293-228E-48F5-A76D-99EABA238733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10972800" cy="866775"/>
          </a:xfrm>
          <a:prstGeom prst="roundRect">
            <a:avLst>
              <a:gd name="adj" fmla="val 8791"/>
            </a:avLst>
          </a:prstGeom>
          <a:solidFill>
            <a:srgbClr val="FFFDF7"/>
          </a:solidFill>
          <a:ln w="11430">
            <a:solidFill>
              <a:srgbClr val="D9C7AB"/>
            </a:solidFill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0488C84-D31F-4210-8055-9324FE560817}"/>
              </a:ext>
            </a:extLst>
          </p:cNvPr>
          <p:cNvSpPr>
            <a:spLocks noGrp="1"/>
          </p:cNvSpPr>
          <p:nvPr/>
        </p:nvSpPr>
        <p:spPr>
          <a:xfrm>
            <a:off x="762000" y="4981575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3C1D4A0-24BB-47A0-8F3B-9CFA6020A850}"/>
              </a:ext>
            </a:extLst>
          </p:cNvPr>
          <p:cNvSpPr>
            <a:spLocks noGrp="1"/>
          </p:cNvSpPr>
          <p:nvPr/>
        </p:nvSpPr>
        <p:spPr>
          <a:xfrm>
            <a:off x="1162050" y="4972050"/>
            <a:ext cx="14001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DIRECTOR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070FA77-1431-4A2D-9012-AE5DF6A24902}"/>
              </a:ext>
            </a:extLst>
          </p:cNvPr>
          <p:cNvSpPr>
            <a:spLocks noGrp="1"/>
          </p:cNvSpPr>
          <p:nvPr/>
        </p:nvSpPr>
        <p:spPr>
          <a:xfrm>
            <a:off x="2686050" y="50292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Institute proposal queue</a:t>
            </a:r>
          </a:p>
        </p:txBody>
      </p:sp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6CA09E97-99B0-450E-8818-76E35D7EE116}"/>
              </a:ext>
            </a:extLst>
          </p:cNvPr>
          <p:cNvSpPr>
            <a:spLocks noGrp="1"/>
          </p:cNvSpPr>
          <p:nvPr/>
        </p:nvSpPr>
        <p:spPr>
          <a:xfrm>
            <a:off x="4600575" y="52959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15A6524B-92EE-48AA-9304-32421AF066ED}"/>
              </a:ext>
            </a:extLst>
          </p:cNvPr>
          <p:cNvSpPr>
            <a:spLocks noGrp="1"/>
          </p:cNvSpPr>
          <p:nvPr/>
        </p:nvSpPr>
        <p:spPr>
          <a:xfrm>
            <a:off x="4714875" y="52482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019D7B8-9F45-4D92-B1DD-06C95A955AA7}"/>
              </a:ext>
            </a:extLst>
          </p:cNvPr>
          <p:cNvSpPr>
            <a:spLocks noGrp="1"/>
          </p:cNvSpPr>
          <p:nvPr/>
        </p:nvSpPr>
        <p:spPr>
          <a:xfrm>
            <a:off x="4838700" y="50292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Final review</a:t>
            </a:r>
          </a:p>
        </p:txBody>
      </p:sp>
      <p:sp>
        <p:nvSpPr>
          <p:cNvPr id="50" name="Straight Connector 49">
            <a:extLst>
              <a:ext uri="{FF2B5EF4-FFF2-40B4-BE49-F238E27FC236}">
                <a16:creationId xmlns:a16="http://schemas.microsoft.com/office/drawing/2014/main" id="{6D82CDE5-5654-4386-A63F-9410BDED8028}"/>
              </a:ext>
            </a:extLst>
          </p:cNvPr>
          <p:cNvSpPr>
            <a:spLocks noGrp="1"/>
          </p:cNvSpPr>
          <p:nvPr/>
        </p:nvSpPr>
        <p:spPr>
          <a:xfrm>
            <a:off x="6753225" y="52959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EB3CAB6D-62F2-4629-BDED-DE2693A3A682}"/>
              </a:ext>
            </a:extLst>
          </p:cNvPr>
          <p:cNvSpPr>
            <a:spLocks noGrp="1"/>
          </p:cNvSpPr>
          <p:nvPr/>
        </p:nvSpPr>
        <p:spPr>
          <a:xfrm>
            <a:off x="6867525" y="52482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C6DDA79-81A4-4931-9675-D8C655F8426A}"/>
              </a:ext>
            </a:extLst>
          </p:cNvPr>
          <p:cNvSpPr>
            <a:spLocks noGrp="1"/>
          </p:cNvSpPr>
          <p:nvPr/>
        </p:nvSpPr>
        <p:spPr>
          <a:xfrm>
            <a:off x="6991350" y="50292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9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9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Approve / changes / reject</a:t>
            </a:r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1286F5B9-0FBD-4219-8824-1EC9B5F11361}"/>
              </a:ext>
            </a:extLst>
          </p:cNvPr>
          <p:cNvSpPr>
            <a:spLocks noGrp="1"/>
          </p:cNvSpPr>
          <p:nvPr/>
        </p:nvSpPr>
        <p:spPr>
          <a:xfrm>
            <a:off x="8905875" y="5295900"/>
            <a:ext cx="152400" cy="0"/>
          </a:xfrm>
          <a:prstGeom prst="line">
            <a:avLst/>
          </a:prstGeom>
          <a:noFill/>
          <a:ln w="23813">
            <a:solidFill>
              <a:srgbClr val="F2550A"/>
            </a:solidFill>
          </a:ln>
        </p:spPr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4F3A0C62-AF46-4A1E-B757-93C3ABE8EFE0}"/>
              </a:ext>
            </a:extLst>
          </p:cNvPr>
          <p:cNvSpPr>
            <a:spLocks noGrp="1"/>
          </p:cNvSpPr>
          <p:nvPr/>
        </p:nvSpPr>
        <p:spPr>
          <a:xfrm>
            <a:off x="9020175" y="5248275"/>
            <a:ext cx="104775" cy="95250"/>
          </a:xfrm>
          <a:prstGeom prst="triangle">
            <a:avLst/>
          </a:prstGeom>
          <a:solidFill>
            <a:srgbClr val="F2550A"/>
          </a:solidFill>
          <a:ln w="0">
            <a:noFill/>
          </a:ln>
        </p:spPr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0E09DA8-C99A-4E54-8FE2-102D8E4526FA}"/>
              </a:ext>
            </a:extLst>
          </p:cNvPr>
          <p:cNvSpPr>
            <a:spLocks noGrp="1"/>
          </p:cNvSpPr>
          <p:nvPr/>
        </p:nvSpPr>
        <p:spPr>
          <a:xfrm>
            <a:off x="9144000" y="50292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FE8BD"/>
          </a:solidFill>
          <a:ln w="13335">
            <a:solidFill>
              <a:srgbClr val="D9C7AB"/>
            </a:solidFill>
          </a:ln>
        </p:spPr>
        <p:txBody>
          <a:bodyPr wrap="square" lIns="95250" tIns="66675" rIns="95250" bIns="66675" anchor="ctr">
            <a:normAutofit/>
          </a:bodyPr>
          <a:lstStyle>
            <a:defPPr algn="ctr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ctr">
              <a:def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Admin prepares event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0769C45-E943-424B-8D7E-77DAD72ABB00}"/>
              </a:ext>
            </a:extLst>
          </p:cNvPr>
          <p:cNvSpPr>
            <a:spLocks noGrp="1"/>
          </p:cNvSpPr>
          <p:nvPr/>
        </p:nvSpPr>
        <p:spPr>
          <a:xfrm>
            <a:off x="695325" y="5953125"/>
            <a:ext cx="10401300" cy="333375"/>
          </a:xfrm>
          <a:prstGeom prst="roundRect">
            <a:avLst>
              <a:gd name="adj" fmla="val 22857"/>
            </a:avLst>
          </a:prstGeom>
          <a:solidFill>
            <a:srgbClr val="FFFDF7"/>
          </a:solidFill>
          <a:ln w="9525">
            <a:solidFill>
              <a:srgbClr val="D9C7AB"/>
            </a:solidFill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3832858-002C-4B87-B53E-D123355D362C}"/>
              </a:ext>
            </a:extLst>
          </p:cNvPr>
          <p:cNvSpPr>
            <a:spLocks noGrp="1"/>
          </p:cNvSpPr>
          <p:nvPr/>
        </p:nvSpPr>
        <p:spPr>
          <a:xfrm>
            <a:off x="838200" y="5981700"/>
            <a:ext cx="100203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Requested changes return to the student; rejection closes the request. Final review is assigned to the Director or Deputy Director.</a:t>
            </a:r>
          </a:p>
        </p:txBody>
      </p:sp>
    </p:spTree>
    <p:extLst>
      <p:ext uri="{BB962C8B-B14F-4D97-AF65-F5344CB8AC3E}">
        <p14:creationId xmlns:p14="http://schemas.microsoft.com/office/powerpoint/2010/main" val="2115283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9EB"/>
            </a:gs>
            <a:gs pos="62000">
              <a:srgbClr val="FFE8BD"/>
            </a:gs>
            <a:gs pos="100000">
              <a:srgbClr val="FFD3C6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BFF968C-7EAB-453D-8A46-E66E2AA087A7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 dirty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Screenshots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CF2EBB-918C-4A0B-AB19-EF47BB7C5EFF}"/>
              </a:ext>
            </a:extLst>
          </p:cNvPr>
          <p:cNvSpPr>
            <a:spLocks noGrp="1"/>
          </p:cNvSpPr>
          <p:nvPr/>
        </p:nvSpPr>
        <p:spPr>
          <a:xfrm>
            <a:off x="628650" y="866775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350" dirty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HOME PAGE:</a:t>
            </a:r>
            <a:endParaRPr lang="en-US" sz="1350" b="0" dirty="0">
              <a:solidFill>
                <a:srgbClr val="664F3C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A7A415-0B81-4705-BA04-AA9AFA5A0BF8}"/>
              </a:ext>
            </a:extLst>
          </p:cNvPr>
          <p:cNvSpPr>
            <a:spLocks noGrp="1"/>
          </p:cNvSpPr>
          <p:nvPr/>
        </p:nvSpPr>
        <p:spPr>
          <a:xfrm>
            <a:off x="10382250" y="647700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09 / 12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16D744-54A4-4297-9E3A-DCA1EF2C96C9}"/>
              </a:ext>
            </a:extLst>
          </p:cNvPr>
          <p:cNvSpPr>
            <a:spLocks noGrp="1"/>
          </p:cNvSpPr>
          <p:nvPr/>
        </p:nvSpPr>
        <p:spPr>
          <a:xfrm>
            <a:off x="561975" y="1238250"/>
            <a:ext cx="11001375" cy="5063398"/>
          </a:xfrm>
          <a:prstGeom prst="roundRect">
            <a:avLst>
              <a:gd name="adj" fmla="val 1747"/>
            </a:avLst>
          </a:prstGeom>
          <a:solidFill>
            <a:srgbClr val="FFFDF7"/>
          </a:solidFill>
          <a:ln w="12383">
            <a:solidFill>
              <a:srgbClr val="D9C7A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A84CCA-7767-4EAD-993B-2B2955C1D20E}"/>
              </a:ext>
            </a:extLst>
          </p:cNvPr>
          <p:cNvSpPr>
            <a:spLocks noGrp="1"/>
          </p:cNvSpPr>
          <p:nvPr/>
        </p:nvSpPr>
        <p:spPr>
          <a:xfrm>
            <a:off x="8562975" y="1562100"/>
            <a:ext cx="2809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endParaRPr sz="1050" b="1" dirty="0">
              <a:solidFill>
                <a:srgbClr val="F2550A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008863-61E6-4E93-AA15-4D34730AC24C}"/>
              </a:ext>
            </a:extLst>
          </p:cNvPr>
          <p:cNvSpPr>
            <a:spLocks noGrp="1"/>
          </p:cNvSpPr>
          <p:nvPr/>
        </p:nvSpPr>
        <p:spPr>
          <a:xfrm>
            <a:off x="638175" y="591502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endParaRPr sz="1050" b="0" dirty="0">
              <a:solidFill>
                <a:srgbClr val="664F3C"/>
              </a:solidFill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086BAE1-1DCE-49C6-2DFB-A935E7653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09" y="1330183"/>
            <a:ext cx="10546241" cy="481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02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9EB"/>
            </a:gs>
            <a:gs pos="62000">
              <a:srgbClr val="FFE8BD"/>
            </a:gs>
            <a:gs pos="100000">
              <a:srgbClr val="FFD3C6"/>
            </a:gs>
          </a:gsLst>
          <a:lin ang="8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A6B2E-394A-0569-0FB0-FAEBE4AA6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E32157E-DCAE-FC2E-E087-EC8F55D50203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Screenshots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D87293-0033-3603-FC8E-96132ACEEC8B}"/>
              </a:ext>
            </a:extLst>
          </p:cNvPr>
          <p:cNvSpPr>
            <a:spLocks noGrp="1"/>
          </p:cNvSpPr>
          <p:nvPr/>
        </p:nvSpPr>
        <p:spPr>
          <a:xfrm>
            <a:off x="628650" y="866775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350" dirty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ADMIN DASHBOARD:</a:t>
            </a:r>
            <a:endParaRPr sz="1350" b="0" dirty="0">
              <a:solidFill>
                <a:srgbClr val="664F3C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4BFC73-45C0-F828-513C-540CF8544931}"/>
              </a:ext>
            </a:extLst>
          </p:cNvPr>
          <p:cNvSpPr>
            <a:spLocks noGrp="1"/>
          </p:cNvSpPr>
          <p:nvPr/>
        </p:nvSpPr>
        <p:spPr>
          <a:xfrm>
            <a:off x="10382250" y="647700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09 / 12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AB5CA7-136F-07E0-7976-6A4AD8DA4742}"/>
              </a:ext>
            </a:extLst>
          </p:cNvPr>
          <p:cNvSpPr>
            <a:spLocks noGrp="1"/>
          </p:cNvSpPr>
          <p:nvPr/>
        </p:nvSpPr>
        <p:spPr>
          <a:xfrm>
            <a:off x="561975" y="1438274"/>
            <a:ext cx="10963275" cy="5038725"/>
          </a:xfrm>
          <a:prstGeom prst="roundRect">
            <a:avLst>
              <a:gd name="adj" fmla="val 1747"/>
            </a:avLst>
          </a:prstGeom>
          <a:solidFill>
            <a:srgbClr val="FFFDF7"/>
          </a:solidFill>
          <a:ln w="12383">
            <a:solidFill>
              <a:srgbClr val="D9C7AB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6D6C07-87E1-EB32-5DF4-27BAB89D0D0B}"/>
              </a:ext>
            </a:extLst>
          </p:cNvPr>
          <p:cNvSpPr>
            <a:spLocks noGrp="1"/>
          </p:cNvSpPr>
          <p:nvPr/>
        </p:nvSpPr>
        <p:spPr>
          <a:xfrm>
            <a:off x="638175" y="591502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endParaRPr sz="1050" b="0" dirty="0">
              <a:solidFill>
                <a:srgbClr val="664F3C"/>
              </a:solidFill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3A1203-B8CB-5874-D33E-7942E5D72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92" y="1809749"/>
            <a:ext cx="4904958" cy="448984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8B71AB2-7E9A-CADC-573E-95BCD10EF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933" y="1801486"/>
            <a:ext cx="4983376" cy="448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66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9EB"/>
            </a:gs>
            <a:gs pos="62000">
              <a:srgbClr val="FFE8BD"/>
            </a:gs>
            <a:gs pos="100000">
              <a:srgbClr val="FFD3C6"/>
            </a:gs>
          </a:gsLst>
          <a:lin ang="8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F30765-F665-61EE-1911-F4337272A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DFA6BC2-AB02-A966-B056-DAFBAD2BF845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Screenshots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F751B5-0521-1CC2-AFDD-093A2E5604AA}"/>
              </a:ext>
            </a:extLst>
          </p:cNvPr>
          <p:cNvSpPr>
            <a:spLocks noGrp="1"/>
          </p:cNvSpPr>
          <p:nvPr/>
        </p:nvSpPr>
        <p:spPr>
          <a:xfrm>
            <a:off x="628650" y="866775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350" dirty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PROPOSALS:</a:t>
            </a:r>
            <a:endParaRPr sz="1350" b="0" dirty="0">
              <a:solidFill>
                <a:srgbClr val="664F3C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3A88DC-7965-8F22-CA1C-129BBA293779}"/>
              </a:ext>
            </a:extLst>
          </p:cNvPr>
          <p:cNvSpPr>
            <a:spLocks noGrp="1"/>
          </p:cNvSpPr>
          <p:nvPr/>
        </p:nvSpPr>
        <p:spPr>
          <a:xfrm>
            <a:off x="10382250" y="647700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09 / 12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C51786-8995-73CB-586D-4A49CD5577D8}"/>
              </a:ext>
            </a:extLst>
          </p:cNvPr>
          <p:cNvSpPr>
            <a:spLocks noGrp="1"/>
          </p:cNvSpPr>
          <p:nvPr/>
        </p:nvSpPr>
        <p:spPr>
          <a:xfrm>
            <a:off x="561975" y="1438274"/>
            <a:ext cx="10963275" cy="5038725"/>
          </a:xfrm>
          <a:prstGeom prst="roundRect">
            <a:avLst>
              <a:gd name="adj" fmla="val 1747"/>
            </a:avLst>
          </a:prstGeom>
          <a:solidFill>
            <a:srgbClr val="FFFDF7"/>
          </a:solidFill>
          <a:ln w="12383">
            <a:solidFill>
              <a:srgbClr val="D9C7AB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9FE6FB-1680-79DA-EFFA-9EC52B9B7A87}"/>
              </a:ext>
            </a:extLst>
          </p:cNvPr>
          <p:cNvSpPr>
            <a:spLocks noGrp="1"/>
          </p:cNvSpPr>
          <p:nvPr/>
        </p:nvSpPr>
        <p:spPr>
          <a:xfrm>
            <a:off x="638175" y="591502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endParaRPr sz="1050" b="0" dirty="0">
              <a:solidFill>
                <a:srgbClr val="664F3C"/>
              </a:solidFill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609017-7B78-7A6F-6391-C74416B9E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37" y="1600197"/>
            <a:ext cx="5280663" cy="47148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51D118-403A-7AE8-F518-560C8FB02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389" y="1600197"/>
            <a:ext cx="5084471" cy="471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320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9EB"/>
            </a:gs>
            <a:gs pos="62000">
              <a:srgbClr val="FFE8BD"/>
            </a:gs>
            <a:gs pos="100000">
              <a:srgbClr val="FFD3C6"/>
            </a:gs>
          </a:gsLst>
          <a:lin ang="8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399AF-3CD8-CACC-4470-28A081CF3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2B69E9F-D349-CE01-3355-F1C451998A99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Screenshots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E7555D-13D4-8FA1-43F3-C1EEC71401FC}"/>
              </a:ext>
            </a:extLst>
          </p:cNvPr>
          <p:cNvSpPr>
            <a:spLocks noGrp="1"/>
          </p:cNvSpPr>
          <p:nvPr/>
        </p:nvSpPr>
        <p:spPr>
          <a:xfrm>
            <a:off x="628650" y="866775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lang="en-US" sz="1350" dirty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EVENTS AND CLUB PAGES:</a:t>
            </a:r>
            <a:endParaRPr sz="1350" b="0" dirty="0">
              <a:solidFill>
                <a:srgbClr val="664F3C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2EE4E-1D11-D128-E0E8-20C57F6E867C}"/>
              </a:ext>
            </a:extLst>
          </p:cNvPr>
          <p:cNvSpPr>
            <a:spLocks noGrp="1"/>
          </p:cNvSpPr>
          <p:nvPr/>
        </p:nvSpPr>
        <p:spPr>
          <a:xfrm>
            <a:off x="10382250" y="647700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09 / 12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92FEA3-2E43-EF0E-BB98-480BEF48B870}"/>
              </a:ext>
            </a:extLst>
          </p:cNvPr>
          <p:cNvSpPr>
            <a:spLocks noGrp="1"/>
          </p:cNvSpPr>
          <p:nvPr/>
        </p:nvSpPr>
        <p:spPr>
          <a:xfrm>
            <a:off x="561975" y="1438274"/>
            <a:ext cx="10963275" cy="5038725"/>
          </a:xfrm>
          <a:prstGeom prst="roundRect">
            <a:avLst>
              <a:gd name="adj" fmla="val 1747"/>
            </a:avLst>
          </a:prstGeom>
          <a:solidFill>
            <a:srgbClr val="FFFDF7"/>
          </a:solidFill>
          <a:ln w="12383">
            <a:solidFill>
              <a:srgbClr val="D9C7AB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EB66C9-3D61-C219-45CB-EC95FE19FF24}"/>
              </a:ext>
            </a:extLst>
          </p:cNvPr>
          <p:cNvSpPr>
            <a:spLocks noGrp="1"/>
          </p:cNvSpPr>
          <p:nvPr/>
        </p:nvSpPr>
        <p:spPr>
          <a:xfrm>
            <a:off x="638175" y="591502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endParaRPr sz="1050" b="0" dirty="0">
              <a:solidFill>
                <a:srgbClr val="664F3C"/>
              </a:solidFill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6FF820-69EF-DC39-8966-BB7587A2E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809749"/>
            <a:ext cx="5782857" cy="44768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B1E6B5-7054-8396-4FE3-4998DBFF9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064" y="1752600"/>
            <a:ext cx="4726729" cy="432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517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9EB"/>
            </a:gs>
            <a:gs pos="62000">
              <a:srgbClr val="FFE8BD"/>
            </a:gs>
            <a:gs pos="100000">
              <a:srgbClr val="FFD3C6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3700C93F-D6BE-441E-95FB-84A58BC453D5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 dirty="0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Implementation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38E906-4148-4334-8462-D7CDC9FA6E8C}"/>
              </a:ext>
            </a:extLst>
          </p:cNvPr>
          <p:cNvSpPr>
            <a:spLocks noGrp="1"/>
          </p:cNvSpPr>
          <p:nvPr/>
        </p:nvSpPr>
        <p:spPr>
          <a:xfrm>
            <a:off x="628650" y="866775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Run the platform locally, then follow one student request through its review path.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03D8CD-4C82-4371-8B41-808057218A6B}"/>
              </a:ext>
            </a:extLst>
          </p:cNvPr>
          <p:cNvSpPr>
            <a:spLocks noGrp="1"/>
          </p:cNvSpPr>
          <p:nvPr/>
        </p:nvSpPr>
        <p:spPr>
          <a:xfrm>
            <a:off x="10382250" y="647700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10 / 12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B290C1-0F16-4309-98BE-ADA027C1F3B7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4743450" cy="4476750"/>
          </a:xfrm>
          <a:prstGeom prst="roundRect">
            <a:avLst>
              <a:gd name="adj" fmla="val 1702"/>
            </a:avLst>
          </a:prstGeom>
          <a:solidFill>
            <a:srgbClr val="FFFDF7"/>
          </a:solidFill>
          <a:ln w="12383">
            <a:solidFill>
              <a:srgbClr val="D9C7AB"/>
            </a:solidFill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3539EF-65AB-4CDD-8236-39941D62DBC3}"/>
              </a:ext>
            </a:extLst>
          </p:cNvPr>
          <p:cNvSpPr>
            <a:spLocks noGrp="1"/>
          </p:cNvSpPr>
          <p:nvPr/>
        </p:nvSpPr>
        <p:spPr>
          <a:xfrm>
            <a:off x="847725" y="163830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LOCAL SETUP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EE5850-4FDD-4CD7-B959-2E29BDD175DF}"/>
              </a:ext>
            </a:extLst>
          </p:cNvPr>
          <p:cNvSpPr>
            <a:spLocks noGrp="1"/>
          </p:cNvSpPr>
          <p:nvPr/>
        </p:nvSpPr>
        <p:spPr>
          <a:xfrm>
            <a:off x="857250" y="2085975"/>
            <a:ext cx="438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C047A5-8C3F-4B24-9D54-913A9247E055}"/>
              </a:ext>
            </a:extLst>
          </p:cNvPr>
          <p:cNvSpPr>
            <a:spLocks noGrp="1"/>
          </p:cNvSpPr>
          <p:nvPr/>
        </p:nvSpPr>
        <p:spPr>
          <a:xfrm>
            <a:off x="1362075" y="2085975"/>
            <a:ext cx="35718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Start XAMPP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AE17FC-DBA5-4241-BDB3-31DB417F5A97}"/>
              </a:ext>
            </a:extLst>
          </p:cNvPr>
          <p:cNvSpPr>
            <a:spLocks noGrp="1"/>
          </p:cNvSpPr>
          <p:nvPr/>
        </p:nvSpPr>
        <p:spPr>
          <a:xfrm>
            <a:off x="1362075" y="2381250"/>
            <a:ext cx="3571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Run Apache and MariaDB.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9FB77F7-A349-42EB-BCCB-9FD99E415CE0}"/>
              </a:ext>
            </a:extLst>
          </p:cNvPr>
          <p:cNvSpPr>
            <a:spLocks noGrp="1"/>
          </p:cNvSpPr>
          <p:nvPr/>
        </p:nvSpPr>
        <p:spPr>
          <a:xfrm>
            <a:off x="1362075" y="2819400"/>
            <a:ext cx="3686175" cy="0"/>
          </a:xfrm>
          <a:prstGeom prst="line">
            <a:avLst/>
          </a:prstGeom>
          <a:noFill/>
          <a:ln w="9525">
            <a:solidFill>
              <a:srgbClr val="D9C7AB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8D21CB-8A6F-4592-8A33-35FB254A6006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38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49E5F5-9CC6-44DA-9766-6422EFE61CF8}"/>
              </a:ext>
            </a:extLst>
          </p:cNvPr>
          <p:cNvSpPr>
            <a:spLocks noGrp="1"/>
          </p:cNvSpPr>
          <p:nvPr/>
        </p:nvSpPr>
        <p:spPr>
          <a:xfrm>
            <a:off x="1362075" y="3000375"/>
            <a:ext cx="35718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Open WordPress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96BD88-2E8A-4ABD-9BD2-242E58A42A66}"/>
              </a:ext>
            </a:extLst>
          </p:cNvPr>
          <p:cNvSpPr>
            <a:spLocks noGrp="1"/>
          </p:cNvSpPr>
          <p:nvPr/>
        </p:nvSpPr>
        <p:spPr>
          <a:xfrm>
            <a:off x="1362075" y="3295650"/>
            <a:ext cx="3571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Load the local EventNest site in a browser.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4C9C9707-E6A8-4A22-BD28-434E158425AB}"/>
              </a:ext>
            </a:extLst>
          </p:cNvPr>
          <p:cNvSpPr>
            <a:spLocks noGrp="1"/>
          </p:cNvSpPr>
          <p:nvPr/>
        </p:nvSpPr>
        <p:spPr>
          <a:xfrm>
            <a:off x="1362075" y="3733800"/>
            <a:ext cx="3686175" cy="0"/>
          </a:xfrm>
          <a:prstGeom prst="line">
            <a:avLst/>
          </a:prstGeom>
          <a:noFill/>
          <a:ln w="9525">
            <a:solidFill>
              <a:srgbClr val="D9C7AB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AD46CE-B6E7-4009-8B49-371EDC9D41F6}"/>
              </a:ext>
            </a:extLst>
          </p:cNvPr>
          <p:cNvSpPr>
            <a:spLocks noGrp="1"/>
          </p:cNvSpPr>
          <p:nvPr/>
        </p:nvSpPr>
        <p:spPr>
          <a:xfrm>
            <a:off x="857250" y="3914775"/>
            <a:ext cx="438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D19E54-3FAD-4FA0-816D-2EB8BC8BD3F6}"/>
              </a:ext>
            </a:extLst>
          </p:cNvPr>
          <p:cNvSpPr>
            <a:spLocks noGrp="1"/>
          </p:cNvSpPr>
          <p:nvPr/>
        </p:nvSpPr>
        <p:spPr>
          <a:xfrm>
            <a:off x="1362075" y="3914775"/>
            <a:ext cx="35718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Check components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36CC9A-6500-450D-993A-F58E65F87210}"/>
              </a:ext>
            </a:extLst>
          </p:cNvPr>
          <p:cNvSpPr>
            <a:spLocks noGrp="1"/>
          </p:cNvSpPr>
          <p:nvPr/>
        </p:nvSpPr>
        <p:spPr>
          <a:xfrm>
            <a:off x="1362075" y="4210050"/>
            <a:ext cx="3571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Confirm EventNest theme and EventNest Core are active.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9572D15-CA55-4B76-9CB4-3E96C96DC9F7}"/>
              </a:ext>
            </a:extLst>
          </p:cNvPr>
          <p:cNvSpPr>
            <a:spLocks noGrp="1"/>
          </p:cNvSpPr>
          <p:nvPr/>
        </p:nvSpPr>
        <p:spPr>
          <a:xfrm>
            <a:off x="1362075" y="4648200"/>
            <a:ext cx="3686175" cy="0"/>
          </a:xfrm>
          <a:prstGeom prst="line">
            <a:avLst/>
          </a:prstGeom>
          <a:noFill/>
          <a:ln w="9525">
            <a:solidFill>
              <a:srgbClr val="D9C7AB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175405-8874-4C5B-BC23-96D4D079869C}"/>
              </a:ext>
            </a:extLst>
          </p:cNvPr>
          <p:cNvSpPr>
            <a:spLocks noGrp="1"/>
          </p:cNvSpPr>
          <p:nvPr/>
        </p:nvSpPr>
        <p:spPr>
          <a:xfrm>
            <a:off x="857250" y="4829175"/>
            <a:ext cx="438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8D65ED-EE36-42C6-B7B0-894535810F88}"/>
              </a:ext>
            </a:extLst>
          </p:cNvPr>
          <p:cNvSpPr>
            <a:spLocks noGrp="1"/>
          </p:cNvSpPr>
          <p:nvPr/>
        </p:nvSpPr>
        <p:spPr>
          <a:xfrm>
            <a:off x="1362075" y="4829175"/>
            <a:ext cx="35718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Sign in by role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84A0AA-A12E-4B48-8F4F-B7EDE42053F0}"/>
              </a:ext>
            </a:extLst>
          </p:cNvPr>
          <p:cNvSpPr>
            <a:spLocks noGrp="1"/>
          </p:cNvSpPr>
          <p:nvPr/>
        </p:nvSpPr>
        <p:spPr>
          <a:xfrm>
            <a:off x="1362075" y="5124450"/>
            <a:ext cx="3571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Use student and authorized reviewer accounts.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AA7BDAA-B808-41B6-81CF-AED63E27C7B9}"/>
              </a:ext>
            </a:extLst>
          </p:cNvPr>
          <p:cNvSpPr>
            <a:spLocks noGrp="1"/>
          </p:cNvSpPr>
          <p:nvPr/>
        </p:nvSpPr>
        <p:spPr>
          <a:xfrm>
            <a:off x="5619750" y="1457325"/>
            <a:ext cx="5962650" cy="4476750"/>
          </a:xfrm>
          <a:prstGeom prst="roundRect">
            <a:avLst>
              <a:gd name="adj" fmla="val 1702"/>
            </a:avLst>
          </a:prstGeom>
          <a:solidFill>
            <a:srgbClr val="2D1709"/>
          </a:solidFill>
          <a:ln w="12383">
            <a:solidFill>
              <a:srgbClr val="2D1709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84ABD2-E210-4130-9733-2C634179CF9F}"/>
              </a:ext>
            </a:extLst>
          </p:cNvPr>
          <p:cNvSpPr>
            <a:spLocks noGrp="1"/>
          </p:cNvSpPr>
          <p:nvPr/>
        </p:nvSpPr>
        <p:spPr>
          <a:xfrm>
            <a:off x="5886450" y="163830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rPr>
              <a:t>LIVE DEMO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9BD900-C95F-44F1-AB64-024E5E14DA82}"/>
              </a:ext>
            </a:extLst>
          </p:cNvPr>
          <p:cNvSpPr>
            <a:spLocks noGrp="1"/>
          </p:cNvSpPr>
          <p:nvPr/>
        </p:nvSpPr>
        <p:spPr>
          <a:xfrm>
            <a:off x="5886450" y="1952625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80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One end-to-end example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92567B-FE2F-4018-99CD-0F88FB6D9BD7}"/>
              </a:ext>
            </a:extLst>
          </p:cNvPr>
          <p:cNvSpPr>
            <a:spLocks noGrp="1"/>
          </p:cNvSpPr>
          <p:nvPr/>
        </p:nvSpPr>
        <p:spPr>
          <a:xfrm>
            <a:off x="5905500" y="2543175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rPr>
              <a:t>01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9F2DD8-FA04-472B-B982-1BD77BF3FF12}"/>
              </a:ext>
            </a:extLst>
          </p:cNvPr>
          <p:cNvSpPr>
            <a:spLocks noGrp="1"/>
          </p:cNvSpPr>
          <p:nvPr/>
        </p:nvSpPr>
        <p:spPr>
          <a:xfrm>
            <a:off x="6381750" y="2543175"/>
            <a:ext cx="4857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FFE8BD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975" b="1">
                <a:solidFill>
                  <a:srgbClr val="FFE8BD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1">
                <a:solidFill>
                  <a:srgbClr val="FFE8BD"/>
                </a:solidFill>
                <a:latin typeface="IBM Plex Sans"/>
                <a:ea typeface="IBM Plex Sans"/>
                <a:cs typeface="IBM Plex Sans"/>
              </a:rPr>
              <a:t>STUDENT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9CE465-BA37-40AB-8729-680EFDB5FAC4}"/>
              </a:ext>
            </a:extLst>
          </p:cNvPr>
          <p:cNvSpPr>
            <a:spLocks noGrp="1"/>
          </p:cNvSpPr>
          <p:nvPr/>
        </p:nvSpPr>
        <p:spPr>
          <a:xfrm>
            <a:off x="6381750" y="278130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0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Browse an event, register, then submit a proposal.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6AFAC967-C124-492B-8972-BA1F40F28FF4}"/>
              </a:ext>
            </a:extLst>
          </p:cNvPr>
          <p:cNvSpPr>
            <a:spLocks noGrp="1"/>
          </p:cNvSpPr>
          <p:nvPr/>
        </p:nvSpPr>
        <p:spPr>
          <a:xfrm>
            <a:off x="6381750" y="3228975"/>
            <a:ext cx="4819650" cy="0"/>
          </a:xfrm>
          <a:prstGeom prst="line">
            <a:avLst/>
          </a:prstGeom>
          <a:noFill/>
          <a:ln w="9525">
            <a:solidFill>
              <a:srgbClr val="6C5240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2426D8-6A55-43F2-B193-F109E01A36E3}"/>
              </a:ext>
            </a:extLst>
          </p:cNvPr>
          <p:cNvSpPr>
            <a:spLocks noGrp="1"/>
          </p:cNvSpPr>
          <p:nvPr/>
        </p:nvSpPr>
        <p:spPr>
          <a:xfrm>
            <a:off x="5905500" y="3343275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rPr>
              <a:t>02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5E3DB6-C255-4753-90A6-B1F4AE03CB30}"/>
              </a:ext>
            </a:extLst>
          </p:cNvPr>
          <p:cNvSpPr>
            <a:spLocks noGrp="1"/>
          </p:cNvSpPr>
          <p:nvPr/>
        </p:nvSpPr>
        <p:spPr>
          <a:xfrm>
            <a:off x="6381750" y="3343275"/>
            <a:ext cx="4857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FFE8BD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975" b="1">
                <a:solidFill>
                  <a:srgbClr val="FFE8BD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1">
                <a:solidFill>
                  <a:srgbClr val="FFE8BD"/>
                </a:solidFill>
                <a:latin typeface="IBM Plex Sans"/>
                <a:ea typeface="IBM Plex Sans"/>
                <a:cs typeface="IBM Plex Sans"/>
              </a:rPr>
              <a:t>REVIEWER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D763D3-4E3B-4D5D-AA90-D01F97134165}"/>
              </a:ext>
            </a:extLst>
          </p:cNvPr>
          <p:cNvSpPr>
            <a:spLocks noGrp="1"/>
          </p:cNvSpPr>
          <p:nvPr/>
        </p:nvSpPr>
        <p:spPr>
          <a:xfrm>
            <a:off x="6381750" y="358140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0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Open the assigned queue and request a revision.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450F664D-5347-4AF1-80A1-40D4C165862A}"/>
              </a:ext>
            </a:extLst>
          </p:cNvPr>
          <p:cNvSpPr>
            <a:spLocks noGrp="1"/>
          </p:cNvSpPr>
          <p:nvPr/>
        </p:nvSpPr>
        <p:spPr>
          <a:xfrm>
            <a:off x="6381750" y="4029075"/>
            <a:ext cx="4819650" cy="0"/>
          </a:xfrm>
          <a:prstGeom prst="line">
            <a:avLst/>
          </a:prstGeom>
          <a:noFill/>
          <a:ln w="9525">
            <a:solidFill>
              <a:srgbClr val="6C5240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A805C2-AF1A-4DCF-872B-AA67F0F7322E}"/>
              </a:ext>
            </a:extLst>
          </p:cNvPr>
          <p:cNvSpPr>
            <a:spLocks noGrp="1"/>
          </p:cNvSpPr>
          <p:nvPr/>
        </p:nvSpPr>
        <p:spPr>
          <a:xfrm>
            <a:off x="5905500" y="4143375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rPr>
              <a:t>03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DCA93F-2EDA-41B2-AEEE-C4E158854F38}"/>
              </a:ext>
            </a:extLst>
          </p:cNvPr>
          <p:cNvSpPr>
            <a:spLocks noGrp="1"/>
          </p:cNvSpPr>
          <p:nvPr/>
        </p:nvSpPr>
        <p:spPr>
          <a:xfrm>
            <a:off x="6381750" y="4143375"/>
            <a:ext cx="4857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FFE8BD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975" b="1">
                <a:solidFill>
                  <a:srgbClr val="FFE8BD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1">
                <a:solidFill>
                  <a:srgbClr val="FFE8BD"/>
                </a:solidFill>
                <a:latin typeface="IBM Plex Sans"/>
                <a:ea typeface="IBM Plex Sans"/>
                <a:cs typeface="IBM Plex Sans"/>
              </a:rPr>
              <a:t>STUDENT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6DFD7A-0CA4-4DEC-B0E1-750476FF8044}"/>
              </a:ext>
            </a:extLst>
          </p:cNvPr>
          <p:cNvSpPr>
            <a:spLocks noGrp="1"/>
          </p:cNvSpPr>
          <p:nvPr/>
        </p:nvSpPr>
        <p:spPr>
          <a:xfrm>
            <a:off x="6381750" y="438150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0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Edit the proposal and resubmit it.</a:t>
            </a:r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1F3DC023-4F1B-461D-B195-BED57A8E55EA}"/>
              </a:ext>
            </a:extLst>
          </p:cNvPr>
          <p:cNvSpPr>
            <a:spLocks noGrp="1"/>
          </p:cNvSpPr>
          <p:nvPr/>
        </p:nvSpPr>
        <p:spPr>
          <a:xfrm>
            <a:off x="6381750" y="4829175"/>
            <a:ext cx="4819650" cy="0"/>
          </a:xfrm>
          <a:prstGeom prst="line">
            <a:avLst/>
          </a:prstGeom>
          <a:noFill/>
          <a:ln w="9525">
            <a:solidFill>
              <a:srgbClr val="6C5240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1AF59F-B60E-488C-8CC0-4443B6B3326C}"/>
              </a:ext>
            </a:extLst>
          </p:cNvPr>
          <p:cNvSpPr>
            <a:spLocks noGrp="1"/>
          </p:cNvSpPr>
          <p:nvPr/>
        </p:nvSpPr>
        <p:spPr>
          <a:xfrm>
            <a:off x="5905500" y="4943475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rPr>
              <a:t>04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4F11D5B-3A17-458E-BC41-0525B2D2FE4C}"/>
              </a:ext>
            </a:extLst>
          </p:cNvPr>
          <p:cNvSpPr>
            <a:spLocks noGrp="1"/>
          </p:cNvSpPr>
          <p:nvPr/>
        </p:nvSpPr>
        <p:spPr>
          <a:xfrm>
            <a:off x="6381750" y="4943475"/>
            <a:ext cx="4857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FFE8BD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975" b="1">
                <a:solidFill>
                  <a:srgbClr val="FFE8BD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1">
                <a:solidFill>
                  <a:srgbClr val="FFE8BD"/>
                </a:solidFill>
                <a:latin typeface="IBM Plex Sans"/>
                <a:ea typeface="IBM Plex Sans"/>
                <a:cs typeface="IBM Plex Sans"/>
              </a:rPr>
              <a:t>ADMIN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126CF8-AA73-42BB-933A-094F36D4A583}"/>
              </a:ext>
            </a:extLst>
          </p:cNvPr>
          <p:cNvSpPr>
            <a:spLocks noGrp="1"/>
          </p:cNvSpPr>
          <p:nvPr/>
        </p:nvSpPr>
        <p:spPr>
          <a:xfrm>
            <a:off x="6381750" y="518160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0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125" b="0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After final approval, publish the event and confirm its public listing.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84CDF0E-0935-4508-BEA1-453CBC011937}"/>
              </a:ext>
            </a:extLst>
          </p:cNvPr>
          <p:cNvSpPr>
            <a:spLocks noGrp="1"/>
          </p:cNvSpPr>
          <p:nvPr/>
        </p:nvSpPr>
        <p:spPr>
          <a:xfrm>
            <a:off x="628650" y="6076950"/>
            <a:ext cx="10668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Use test accounts and non-production data for the classroom demo.</a:t>
            </a:r>
          </a:p>
        </p:txBody>
      </p:sp>
    </p:spTree>
    <p:extLst>
      <p:ext uri="{BB962C8B-B14F-4D97-AF65-F5344CB8AC3E}">
        <p14:creationId xmlns:p14="http://schemas.microsoft.com/office/powerpoint/2010/main" val="1411510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9EB"/>
            </a:gs>
            <a:gs pos="62000">
              <a:srgbClr val="FFE8BD"/>
            </a:gs>
            <a:gs pos="100000">
              <a:srgbClr val="FFD3C6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2C06ED2-C28A-4111-9912-6DEA33238FEF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0599BB-EAAF-45B9-BBD6-BCEE895C7612}"/>
              </a:ext>
            </a:extLst>
          </p:cNvPr>
          <p:cNvSpPr>
            <a:spLocks noGrp="1"/>
          </p:cNvSpPr>
          <p:nvPr/>
        </p:nvSpPr>
        <p:spPr>
          <a:xfrm>
            <a:off x="628650" y="866775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EventNest makes campus activity easier to find and easier to run.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784A8-B0EE-47E8-A5C9-62282AF7B3D4}"/>
              </a:ext>
            </a:extLst>
          </p:cNvPr>
          <p:cNvSpPr>
            <a:spLocks noGrp="1"/>
          </p:cNvSpPr>
          <p:nvPr/>
        </p:nvSpPr>
        <p:spPr>
          <a:xfrm>
            <a:off x="10382250" y="647700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11 / 12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0CD466-97A9-4B8C-931C-A4123E659750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3505200" cy="3086100"/>
          </a:xfrm>
          <a:prstGeom prst="roundRect">
            <a:avLst>
              <a:gd name="adj" fmla="val 2469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93E538-625B-47B2-885B-ECB78324C3C6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3505200" cy="533400"/>
          </a:xfrm>
          <a:prstGeom prst="roundRect">
            <a:avLst>
              <a:gd name="adj" fmla="val 14286"/>
            </a:avLst>
          </a:prstGeom>
          <a:solidFill>
            <a:srgbClr val="2D1709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D8ABA0-FA6C-46B4-8BCA-1EA7A9D2AAAD}"/>
              </a:ext>
            </a:extLst>
          </p:cNvPr>
          <p:cNvSpPr>
            <a:spLocks noGrp="1"/>
          </p:cNvSpPr>
          <p:nvPr/>
        </p:nvSpPr>
        <p:spPr>
          <a:xfrm>
            <a:off x="800100" y="1838325"/>
            <a:ext cx="31242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FOR STUDENTS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7775A-BC55-43D2-94AF-DAB3D19F3F03}"/>
              </a:ext>
            </a:extLst>
          </p:cNvPr>
          <p:cNvSpPr>
            <a:spLocks noGrp="1"/>
          </p:cNvSpPr>
          <p:nvPr/>
        </p:nvSpPr>
        <p:spPr>
          <a:xfrm>
            <a:off x="828675" y="2533650"/>
            <a:ext cx="30670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8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One reliable place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30EC9327-3C5F-4526-8570-2DBAF6A7F5C3}"/>
              </a:ext>
            </a:extLst>
          </p:cNvPr>
          <p:cNvSpPr>
            <a:spLocks noGrp="1"/>
          </p:cNvSpPr>
          <p:nvPr/>
        </p:nvSpPr>
        <p:spPr>
          <a:xfrm>
            <a:off x="828675" y="3257550"/>
            <a:ext cx="3057525" cy="0"/>
          </a:xfrm>
          <a:prstGeom prst="line">
            <a:avLst/>
          </a:prstGeom>
          <a:noFill/>
          <a:ln w="10478">
            <a:solidFill>
              <a:srgbClr val="D9C7AB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4F0AA9-1BE5-4B23-9279-6B94CB1FD9CB}"/>
              </a:ext>
            </a:extLst>
          </p:cNvPr>
          <p:cNvSpPr>
            <a:spLocks noGrp="1"/>
          </p:cNvSpPr>
          <p:nvPr/>
        </p:nvSpPr>
        <p:spPr>
          <a:xfrm>
            <a:off x="828675" y="3419475"/>
            <a:ext cx="30670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Discover workshops, competitions and campus activities; manage a profile and registrations.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310CA5-AEB5-4943-BD63-32959EA194FD}"/>
              </a:ext>
            </a:extLst>
          </p:cNvPr>
          <p:cNvSpPr>
            <a:spLocks noGrp="1"/>
          </p:cNvSpPr>
          <p:nvPr/>
        </p:nvSpPr>
        <p:spPr>
          <a:xfrm>
            <a:off x="4343400" y="1743075"/>
            <a:ext cx="3505200" cy="3086100"/>
          </a:xfrm>
          <a:prstGeom prst="roundRect">
            <a:avLst>
              <a:gd name="adj" fmla="val 2469"/>
            </a:avLst>
          </a:prstGeom>
          <a:solidFill>
            <a:srgbClr val="FFE8BD"/>
          </a:solidFill>
          <a:ln w="13335">
            <a:solidFill>
              <a:srgbClr val="D9C7AB"/>
            </a:solidFill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363EDF2-0233-4A7C-943A-A143139660AB}"/>
              </a:ext>
            </a:extLst>
          </p:cNvPr>
          <p:cNvSpPr>
            <a:spLocks noGrp="1"/>
          </p:cNvSpPr>
          <p:nvPr/>
        </p:nvSpPr>
        <p:spPr>
          <a:xfrm>
            <a:off x="4343400" y="1743075"/>
            <a:ext cx="3505200" cy="533400"/>
          </a:xfrm>
          <a:prstGeom prst="roundRect">
            <a:avLst>
              <a:gd name="adj" fmla="val 14286"/>
            </a:avLst>
          </a:prstGeom>
          <a:solidFill>
            <a:srgbClr val="F2550A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1A34D5-690A-4707-8365-A7C72E9AE662}"/>
              </a:ext>
            </a:extLst>
          </p:cNvPr>
          <p:cNvSpPr>
            <a:spLocks noGrp="1"/>
          </p:cNvSpPr>
          <p:nvPr/>
        </p:nvSpPr>
        <p:spPr>
          <a:xfrm>
            <a:off x="4533900" y="1838325"/>
            <a:ext cx="31242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FOR ORGANIZERS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A80DFC-9DED-4E1F-A543-6C2AD3B90031}"/>
              </a:ext>
            </a:extLst>
          </p:cNvPr>
          <p:cNvSpPr>
            <a:spLocks noGrp="1"/>
          </p:cNvSpPr>
          <p:nvPr/>
        </p:nvSpPr>
        <p:spPr>
          <a:xfrm>
            <a:off x="4562475" y="2533650"/>
            <a:ext cx="30670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8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Structured operations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2534D8E9-206C-4628-943B-01B1283CE445}"/>
              </a:ext>
            </a:extLst>
          </p:cNvPr>
          <p:cNvSpPr>
            <a:spLocks noGrp="1"/>
          </p:cNvSpPr>
          <p:nvPr/>
        </p:nvSpPr>
        <p:spPr>
          <a:xfrm>
            <a:off x="4562475" y="3257550"/>
            <a:ext cx="3057525" cy="0"/>
          </a:xfrm>
          <a:prstGeom prst="line">
            <a:avLst/>
          </a:prstGeom>
          <a:noFill/>
          <a:ln w="10478">
            <a:solidFill>
              <a:srgbClr val="D9C7AB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EE7082-75FA-47CB-967F-CB3005B1002E}"/>
              </a:ext>
            </a:extLst>
          </p:cNvPr>
          <p:cNvSpPr>
            <a:spLocks noGrp="1"/>
          </p:cNvSpPr>
          <p:nvPr/>
        </p:nvSpPr>
        <p:spPr>
          <a:xfrm>
            <a:off x="4562475" y="3419475"/>
            <a:ext cx="30670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Coordinate proposals, events, club activity, registrations and review decisions.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9695238-541A-4A04-8A33-B78EC641BD61}"/>
              </a:ext>
            </a:extLst>
          </p:cNvPr>
          <p:cNvSpPr>
            <a:spLocks noGrp="1"/>
          </p:cNvSpPr>
          <p:nvPr/>
        </p:nvSpPr>
        <p:spPr>
          <a:xfrm>
            <a:off x="8077200" y="1743075"/>
            <a:ext cx="3505200" cy="3086100"/>
          </a:xfrm>
          <a:prstGeom prst="roundRect">
            <a:avLst>
              <a:gd name="adj" fmla="val 2469"/>
            </a:avLst>
          </a:prstGeom>
          <a:solidFill>
            <a:srgbClr val="FFFDF7"/>
          </a:solidFill>
          <a:ln w="13335">
            <a:solidFill>
              <a:srgbClr val="D9C7AB"/>
            </a:solidFill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E6535BA-82BB-42CC-AEA5-AC5160D51610}"/>
              </a:ext>
            </a:extLst>
          </p:cNvPr>
          <p:cNvSpPr>
            <a:spLocks noGrp="1"/>
          </p:cNvSpPr>
          <p:nvPr/>
        </p:nvSpPr>
        <p:spPr>
          <a:xfrm>
            <a:off x="8077200" y="1743075"/>
            <a:ext cx="3505200" cy="533400"/>
          </a:xfrm>
          <a:prstGeom prst="roundRect">
            <a:avLst>
              <a:gd name="adj" fmla="val 14286"/>
            </a:avLst>
          </a:prstGeom>
          <a:solidFill>
            <a:srgbClr val="2D1709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4CDB89-259E-43B4-A9BB-2E37C47C0C82}"/>
              </a:ext>
            </a:extLst>
          </p:cNvPr>
          <p:cNvSpPr>
            <a:spLocks noGrp="1"/>
          </p:cNvSpPr>
          <p:nvPr/>
        </p:nvSpPr>
        <p:spPr>
          <a:xfrm>
            <a:off x="8267700" y="1838325"/>
            <a:ext cx="31242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05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FOR THE INSTITUTION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AD0BDB-9255-44C0-BD9D-6608BCCDDEC5}"/>
              </a:ext>
            </a:extLst>
          </p:cNvPr>
          <p:cNvSpPr>
            <a:spLocks noGrp="1"/>
          </p:cNvSpPr>
          <p:nvPr/>
        </p:nvSpPr>
        <p:spPr>
          <a:xfrm>
            <a:off x="8296275" y="2533650"/>
            <a:ext cx="30670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8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Connected campus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9ACF487F-DE7C-4C57-A9F4-2F762E491D34}"/>
              </a:ext>
            </a:extLst>
          </p:cNvPr>
          <p:cNvSpPr>
            <a:spLocks noGrp="1"/>
          </p:cNvSpPr>
          <p:nvPr/>
        </p:nvSpPr>
        <p:spPr>
          <a:xfrm>
            <a:off x="8296275" y="3257550"/>
            <a:ext cx="3057525" cy="0"/>
          </a:xfrm>
          <a:prstGeom prst="line">
            <a:avLst/>
          </a:prstGeom>
          <a:noFill/>
          <a:ln w="10478">
            <a:solidFill>
              <a:srgbClr val="D9C7AB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6C0054-5DD3-4465-92F3-4A4A52C2CFF4}"/>
              </a:ext>
            </a:extLst>
          </p:cNvPr>
          <p:cNvSpPr>
            <a:spLocks noGrp="1"/>
          </p:cNvSpPr>
          <p:nvPr/>
        </p:nvSpPr>
        <p:spPr>
          <a:xfrm>
            <a:off x="8296275" y="3419475"/>
            <a:ext cx="30670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Give campus activity visibility and make approval history easier to follow.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1030254-0CCE-44AC-8C0B-FC8EFCC9C188}"/>
              </a:ext>
            </a:extLst>
          </p:cNvPr>
          <p:cNvSpPr>
            <a:spLocks noGrp="1"/>
          </p:cNvSpPr>
          <p:nvPr/>
        </p:nvSpPr>
        <p:spPr>
          <a:xfrm>
            <a:off x="609600" y="5153025"/>
            <a:ext cx="10972800" cy="885825"/>
          </a:xfrm>
          <a:prstGeom prst="roundRect">
            <a:avLst>
              <a:gd name="adj" fmla="val 8602"/>
            </a:avLst>
          </a:prstGeom>
          <a:solidFill>
            <a:srgbClr val="2D1709"/>
          </a:solidFill>
          <a:ln w="9525">
            <a:solidFill>
              <a:srgbClr val="2D1709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3B5AB-339E-4683-984F-AF313134D6A5}"/>
              </a:ext>
            </a:extLst>
          </p:cNvPr>
          <p:cNvSpPr>
            <a:spLocks noGrp="1"/>
          </p:cNvSpPr>
          <p:nvPr/>
        </p:nvSpPr>
        <p:spPr>
          <a:xfrm>
            <a:off x="847725" y="5238750"/>
            <a:ext cx="23050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rPr>
              <a:t>DISCOVER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80E918-6929-4618-B31F-FE1991FD04E8}"/>
              </a:ext>
            </a:extLst>
          </p:cNvPr>
          <p:cNvSpPr>
            <a:spLocks noGrp="1"/>
          </p:cNvSpPr>
          <p:nvPr/>
        </p:nvSpPr>
        <p:spPr>
          <a:xfrm>
            <a:off x="3371850" y="5238750"/>
            <a:ext cx="2476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PARTICIPATE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1B48CE-DD79-46AD-B2B2-34D12FEA9853}"/>
              </a:ext>
            </a:extLst>
          </p:cNvPr>
          <p:cNvSpPr>
            <a:spLocks noGrp="1"/>
          </p:cNvSpPr>
          <p:nvPr/>
        </p:nvSpPr>
        <p:spPr>
          <a:xfrm>
            <a:off x="6229350" y="5238750"/>
            <a:ext cx="23050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rPr>
              <a:t>CREATE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D28F35-9E47-4415-A3F1-A68F56604048}"/>
              </a:ext>
            </a:extLst>
          </p:cNvPr>
          <p:cNvSpPr>
            <a:spLocks noGrp="1"/>
          </p:cNvSpPr>
          <p:nvPr/>
        </p:nvSpPr>
        <p:spPr>
          <a:xfrm>
            <a:off x="8915400" y="5238750"/>
            <a:ext cx="23050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REVIEW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AB39B5-5D59-47AC-85DD-4B3C2F24F20D}"/>
              </a:ext>
            </a:extLst>
          </p:cNvPr>
          <p:cNvSpPr>
            <a:spLocks noGrp="1"/>
          </p:cNvSpPr>
          <p:nvPr/>
        </p:nvSpPr>
        <p:spPr>
          <a:xfrm>
            <a:off x="3152775" y="5576887"/>
            <a:ext cx="10001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500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 dirty="0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One connected experience from first search through final approval.</a:t>
            </a:r>
          </a:p>
        </p:txBody>
      </p:sp>
    </p:spTree>
    <p:extLst>
      <p:ext uri="{BB962C8B-B14F-4D97-AF65-F5344CB8AC3E}">
        <p14:creationId xmlns:p14="http://schemas.microsoft.com/office/powerpoint/2010/main" val="809771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9EB"/>
            </a:gs>
            <a:gs pos="62000">
              <a:srgbClr val="FFE8BD"/>
            </a:gs>
            <a:gs pos="100000">
              <a:srgbClr val="FFD3C6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CF6A616-2155-4E24-BD0B-0EF09764DBD6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Future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07247B-4566-4815-8137-24F600F196A0}"/>
              </a:ext>
            </a:extLst>
          </p:cNvPr>
          <p:cNvSpPr>
            <a:spLocks noGrp="1"/>
          </p:cNvSpPr>
          <p:nvPr/>
        </p:nvSpPr>
        <p:spPr>
          <a:xfrm>
            <a:off x="628650" y="866775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Potential extensions beyond the current implementation.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73F3F4-DC2A-4D1D-B07E-FE452303B8B3}"/>
              </a:ext>
            </a:extLst>
          </p:cNvPr>
          <p:cNvSpPr>
            <a:spLocks noGrp="1"/>
          </p:cNvSpPr>
          <p:nvPr/>
        </p:nvSpPr>
        <p:spPr>
          <a:xfrm>
            <a:off x="10382250" y="647700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r">
              <a:def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r>
              <a:rPr sz="975" b="0">
                <a:solidFill>
                  <a:srgbClr val="664F3C"/>
                </a:solidFill>
                <a:latin typeface="IBM Plex Sans"/>
                <a:ea typeface="IBM Plex Sans"/>
                <a:cs typeface="IBM Plex Sans"/>
              </a:rPr>
              <a:t>12 / 12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124511-4A80-42CB-B431-7F3669FEFB0A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5105400" cy="1847850"/>
          </a:xfrm>
          <a:prstGeom prst="roundRect">
            <a:avLst>
              <a:gd name="adj" fmla="val 4124"/>
            </a:avLst>
          </a:prstGeom>
          <a:solidFill>
            <a:srgbClr val="2D1709"/>
          </a:solidFill>
          <a:ln w="11430">
            <a:solidFill>
              <a:srgbClr val="2D1709"/>
            </a:solidFill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20A157-A66F-4381-946E-1F212BD7EA81}"/>
              </a:ext>
            </a:extLst>
          </p:cNvPr>
          <p:cNvSpPr>
            <a:spLocks noGrp="1"/>
          </p:cNvSpPr>
          <p:nvPr/>
        </p:nvSpPr>
        <p:spPr>
          <a:xfrm>
            <a:off x="838200" y="1647825"/>
            <a:ext cx="590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950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09DFD-494F-41B3-814A-653545EBE495}"/>
              </a:ext>
            </a:extLst>
          </p:cNvPr>
          <p:cNvSpPr>
            <a:spLocks noGrp="1"/>
          </p:cNvSpPr>
          <p:nvPr/>
        </p:nvSpPr>
        <p:spPr>
          <a:xfrm>
            <a:off x="1543050" y="1685925"/>
            <a:ext cx="381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E7A900"/>
                </a:solidFill>
                <a:latin typeface="IBM Plex Sans"/>
                <a:ea typeface="IBM Plex Sans"/>
                <a:cs typeface="IBM Plex Sans"/>
              </a:rPr>
              <a:t>COMMUNICATION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3FC026-2144-4BE7-AAE9-DA51C982B48B}"/>
              </a:ext>
            </a:extLst>
          </p:cNvPr>
          <p:cNvSpPr>
            <a:spLocks noGrp="1"/>
          </p:cNvSpPr>
          <p:nvPr/>
        </p:nvSpPr>
        <p:spPr>
          <a:xfrm>
            <a:off x="838200" y="2219325"/>
            <a:ext cx="4381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5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FFFDF7"/>
                </a:solidFill>
                <a:latin typeface="IBM Plex Sans"/>
                <a:ea typeface="IBM Plex Sans"/>
                <a:cs typeface="IBM Plex Sans"/>
              </a:rPr>
              <a:t>Email or in-app updates for registrations and review decisions.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9D244C1-7297-4225-A2F1-BDBBF86CD7AE}"/>
              </a:ext>
            </a:extLst>
          </p:cNvPr>
          <p:cNvSpPr>
            <a:spLocks noGrp="1"/>
          </p:cNvSpPr>
          <p:nvPr/>
        </p:nvSpPr>
        <p:spPr>
          <a:xfrm>
            <a:off x="5924550" y="1457325"/>
            <a:ext cx="5657850" cy="1847850"/>
          </a:xfrm>
          <a:prstGeom prst="roundRect">
            <a:avLst>
              <a:gd name="adj" fmla="val 4124"/>
            </a:avLst>
          </a:prstGeom>
          <a:solidFill>
            <a:srgbClr val="FFFDF7"/>
          </a:solidFill>
          <a:ln w="12383">
            <a:solidFill>
              <a:srgbClr val="D9C7AB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695FE0-FB9F-41AA-A893-ED5D547CC9F1}"/>
              </a:ext>
            </a:extLst>
          </p:cNvPr>
          <p:cNvSpPr>
            <a:spLocks noGrp="1"/>
          </p:cNvSpPr>
          <p:nvPr/>
        </p:nvSpPr>
        <p:spPr>
          <a:xfrm>
            <a:off x="6172200" y="1657350"/>
            <a:ext cx="4905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02  ·  INSIGHT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683E11-CF00-4B7B-B5EF-B23F87007230}"/>
              </a:ext>
            </a:extLst>
          </p:cNvPr>
          <p:cNvSpPr>
            <a:spLocks noGrp="1"/>
          </p:cNvSpPr>
          <p:nvPr/>
        </p:nvSpPr>
        <p:spPr>
          <a:xfrm>
            <a:off x="6172200" y="2095500"/>
            <a:ext cx="4857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5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Reports and analytics for organizers to understand activity and participation.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FC0A3BD-B0FC-4199-9963-676E535B0E61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3352800" cy="1952625"/>
          </a:xfrm>
          <a:prstGeom prst="roundRect">
            <a:avLst>
              <a:gd name="adj" fmla="val 3902"/>
            </a:avLst>
          </a:prstGeom>
          <a:solidFill>
            <a:srgbClr val="FFFDF7"/>
          </a:solidFill>
          <a:ln w="12383">
            <a:solidFill>
              <a:srgbClr val="D9C7AB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C322D4-AB8D-4F6B-9F10-3E7CA4F036EB}"/>
              </a:ext>
            </a:extLst>
          </p:cNvPr>
          <p:cNvSpPr>
            <a:spLocks noGrp="1"/>
          </p:cNvSpPr>
          <p:nvPr/>
        </p:nvSpPr>
        <p:spPr>
          <a:xfrm>
            <a:off x="838200" y="376237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03  ·  CALENDAR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0FA0BF-A6D2-4D63-8453-8FD509766FFE}"/>
              </a:ext>
            </a:extLst>
          </p:cNvPr>
          <p:cNvSpPr>
            <a:spLocks noGrp="1"/>
          </p:cNvSpPr>
          <p:nvPr/>
        </p:nvSpPr>
        <p:spPr>
          <a:xfrm>
            <a:off x="838200" y="4229100"/>
            <a:ext cx="2809875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5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Calendar export and event reminders.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4B34B1-B8BA-4386-B577-19B47C56E5FD}"/>
              </a:ext>
            </a:extLst>
          </p:cNvPr>
          <p:cNvSpPr>
            <a:spLocks noGrp="1"/>
          </p:cNvSpPr>
          <p:nvPr/>
        </p:nvSpPr>
        <p:spPr>
          <a:xfrm>
            <a:off x="4171950" y="3543300"/>
            <a:ext cx="3352800" cy="1952625"/>
          </a:xfrm>
          <a:prstGeom prst="roundRect">
            <a:avLst>
              <a:gd name="adj" fmla="val 3902"/>
            </a:avLst>
          </a:prstGeom>
          <a:solidFill>
            <a:srgbClr val="FFE8BD"/>
          </a:solidFill>
          <a:ln w="12383">
            <a:solidFill>
              <a:srgbClr val="D9C7AB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86298A-FDC6-4C0B-A4F8-A4DE933B7515}"/>
              </a:ext>
            </a:extLst>
          </p:cNvPr>
          <p:cNvSpPr>
            <a:spLocks noGrp="1"/>
          </p:cNvSpPr>
          <p:nvPr/>
        </p:nvSpPr>
        <p:spPr>
          <a:xfrm>
            <a:off x="4400550" y="376237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04  ·  ACCESS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C91706-9EE2-4ED1-AF62-65DBA06F51E0}"/>
              </a:ext>
            </a:extLst>
          </p:cNvPr>
          <p:cNvSpPr>
            <a:spLocks noGrp="1"/>
          </p:cNvSpPr>
          <p:nvPr/>
        </p:nvSpPr>
        <p:spPr>
          <a:xfrm>
            <a:off x="4400550" y="4229100"/>
            <a:ext cx="28003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5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A stronger mobile experience and improved accessibility.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32A217-BC14-406A-96A9-5B4C563410A3}"/>
              </a:ext>
            </a:extLst>
          </p:cNvPr>
          <p:cNvSpPr>
            <a:spLocks noGrp="1"/>
          </p:cNvSpPr>
          <p:nvPr/>
        </p:nvSpPr>
        <p:spPr>
          <a:xfrm>
            <a:off x="7734300" y="3543300"/>
            <a:ext cx="3848100" cy="1952625"/>
          </a:xfrm>
          <a:prstGeom prst="roundRect">
            <a:avLst>
              <a:gd name="adj" fmla="val 3902"/>
            </a:avLst>
          </a:prstGeom>
          <a:solidFill>
            <a:srgbClr val="FFFDF7"/>
          </a:solidFill>
          <a:ln w="12383">
            <a:solidFill>
              <a:srgbClr val="D9C7AB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9D187E-A242-40CC-8FD5-7C432D63FD77}"/>
              </a:ext>
            </a:extLst>
          </p:cNvPr>
          <p:cNvSpPr>
            <a:spLocks noGrp="1"/>
          </p:cNvSpPr>
          <p:nvPr/>
        </p:nvSpPr>
        <p:spPr>
          <a:xfrm>
            <a:off x="7972425" y="3762375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F2550A"/>
                </a:solidFill>
                <a:latin typeface="IBM Plex Sans"/>
                <a:ea typeface="IBM Plex Sans"/>
                <a:cs typeface="IBM Plex Sans"/>
              </a:rPr>
              <a:t>05  ·  PAYMENTS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455B37-6BC2-486B-B5A1-C283E7D85B95}"/>
              </a:ext>
            </a:extLst>
          </p:cNvPr>
          <p:cNvSpPr>
            <a:spLocks noGrp="1"/>
          </p:cNvSpPr>
          <p:nvPr/>
        </p:nvSpPr>
        <p:spPr>
          <a:xfrm>
            <a:off x="7972425" y="4229100"/>
            <a:ext cx="32385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5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2D1709"/>
                </a:solidFill>
                <a:latin typeface="IBM Plex Sans"/>
                <a:ea typeface="IBM Plex Sans"/>
                <a:cs typeface="IBM Plex Sans"/>
              </a:rPr>
              <a:t>Online payment support for paid events.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34D529-9A5D-44ED-8BCD-0AB8E17569D0}"/>
              </a:ext>
            </a:extLst>
          </p:cNvPr>
          <p:cNvSpPr>
            <a:spLocks noGrp="1"/>
          </p:cNvSpPr>
          <p:nvPr/>
        </p:nvSpPr>
        <p:spPr>
          <a:xfrm>
            <a:off x="685800" y="5819775"/>
            <a:ext cx="10429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defPPr>
          </a:lstStyle>
          <a:p>
            <a:pPr algn="l">
              <a:defRPr sz="1125" b="1">
                <a:solidFill>
                  <a:srgbClr val="664F3C"/>
                </a:solidFill>
                <a:latin typeface="IBM Plex Sans"/>
                <a:ea typeface="IBM Plex Sans"/>
                <a:cs typeface="IBM Plex Sans"/>
              </a:defRPr>
            </a:pPr>
            <a:endParaRPr sz="1125" b="1" dirty="0">
              <a:solidFill>
                <a:srgbClr val="664F3C"/>
              </a:solidFill>
              <a:latin typeface="IBM Plex Sans"/>
              <a:ea typeface="IBM Plex Sans"/>
              <a:cs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16488573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1573</Words>
  <Application>Microsoft Office PowerPoint</Application>
  <DocSecurity>0</DocSecurity>
  <PresentationFormat>Widescreen</PresentationFormat>
  <Paragraphs>290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</vt:lpstr>
      <vt:lpstr>IBM Plex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AASHRIYA CHAUHAN</cp:lastModifiedBy>
  <cp:revision>1</cp:revision>
  <dcterms:created xsi:type="dcterms:W3CDTF">2026-10-11T19:23:37Z</dcterms:created>
  <dcterms:modified xsi:type="dcterms:W3CDTF">2026-10-11T19:53:11Z</dcterms:modified>
</cp:coreProperties>
</file>